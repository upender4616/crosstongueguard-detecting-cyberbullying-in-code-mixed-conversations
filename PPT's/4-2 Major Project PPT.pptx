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6" r:id="rId2"/>
    <p:sldId id="286" r:id="rId3"/>
    <p:sldId id="287" r:id="rId4"/>
    <p:sldId id="288" r:id="rId5"/>
    <p:sldId id="289" r:id="rId6"/>
    <p:sldId id="290" r:id="rId7"/>
    <p:sldId id="291" r:id="rId8"/>
    <p:sldId id="292" r:id="rId9"/>
    <p:sldId id="293" r:id="rId10"/>
    <p:sldId id="294" r:id="rId11"/>
    <p:sldId id="295" r:id="rId12"/>
    <p:sldId id="296" r:id="rId13"/>
    <p:sldId id="297" r:id="rId14"/>
    <p:sldId id="298" r:id="rId15"/>
    <p:sldId id="299" r:id="rId16"/>
    <p:sldId id="316" r:id="rId17"/>
    <p:sldId id="317" r:id="rId18"/>
    <p:sldId id="318" r:id="rId19"/>
    <p:sldId id="319" r:id="rId20"/>
    <p:sldId id="300" r:id="rId21"/>
    <p:sldId id="301" r:id="rId22"/>
    <p:sldId id="284" r:id="rId23"/>
    <p:sldId id="302" r:id="rId24"/>
    <p:sldId id="303" r:id="rId25"/>
    <p:sldId id="275" r:id="rId26"/>
    <p:sldId id="276" r:id="rId27"/>
    <p:sldId id="304" r:id="rId28"/>
    <p:sldId id="305" r:id="rId29"/>
    <p:sldId id="306" r:id="rId30"/>
    <p:sldId id="307" r:id="rId31"/>
    <p:sldId id="309" r:id="rId32"/>
    <p:sldId id="308" r:id="rId33"/>
    <p:sldId id="321" r:id="rId34"/>
    <p:sldId id="320" r:id="rId35"/>
    <p:sldId id="310" r:id="rId36"/>
    <p:sldId id="311" r:id="rId37"/>
    <p:sldId id="322" r:id="rId38"/>
    <p:sldId id="312" r:id="rId39"/>
    <p:sldId id="313" r:id="rId40"/>
    <p:sldId id="314" r:id="rId41"/>
    <p:sldId id="31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BC1140-6A0E-409D-8CF1-D3D702238D53}" v="82" dt="2026-03-25T16:32:11.368"/>
    <p1510:client id="{D53CCC2F-5716-4D50-9CAE-E2C757E34B7B}" v="4" dt="2026-03-25T06:59:42.5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946" y="39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AAB55B-B207-4721-80F4-63B2AE5701BD}" type="datetimeFigureOut">
              <a:rPr lang="en-IN" smtClean="0"/>
              <a:t>25-03-2026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F5AB53-87BB-4F3A-BF3F-F3E88D4B51AF}" type="slidenum">
              <a:rPr lang="en-IN" smtClean="0"/>
              <a:t>‹#›</a:t>
            </a:fld>
            <a:endParaRPr lang="en-IN"/>
          </a:p>
        </p:txBody>
      </p:sp>
    </p:spTree>
    <p:extLst>
      <p:ext uri="{BB962C8B-B14F-4D97-AF65-F5344CB8AC3E}">
        <p14:creationId xmlns:p14="http://schemas.microsoft.com/office/powerpoint/2010/main" val="3656725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F5AB53-87BB-4F3A-BF3F-F3E88D4B51AF}" type="slidenum">
              <a:rPr lang="en-IN" smtClean="0"/>
              <a:t>1</a:t>
            </a:fld>
            <a:endParaRPr lang="en-IN"/>
          </a:p>
        </p:txBody>
      </p:sp>
    </p:spTree>
    <p:extLst>
      <p:ext uri="{BB962C8B-B14F-4D97-AF65-F5344CB8AC3E}">
        <p14:creationId xmlns:p14="http://schemas.microsoft.com/office/powerpoint/2010/main" val="3016921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F5AB53-87BB-4F3A-BF3F-F3E88D4B51AF}" type="slidenum">
              <a:rPr lang="en-IN" smtClean="0"/>
              <a:t>2</a:t>
            </a:fld>
            <a:endParaRPr lang="en-IN"/>
          </a:p>
        </p:txBody>
      </p:sp>
    </p:spTree>
    <p:extLst>
      <p:ext uri="{BB962C8B-B14F-4D97-AF65-F5344CB8AC3E}">
        <p14:creationId xmlns:p14="http://schemas.microsoft.com/office/powerpoint/2010/main" val="3172035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F5AB53-87BB-4F3A-BF3F-F3E88D4B51AF}" type="slidenum">
              <a:rPr lang="en-IN" smtClean="0"/>
              <a:t>14</a:t>
            </a:fld>
            <a:endParaRPr lang="en-IN"/>
          </a:p>
        </p:txBody>
      </p:sp>
    </p:spTree>
    <p:extLst>
      <p:ext uri="{BB962C8B-B14F-4D97-AF65-F5344CB8AC3E}">
        <p14:creationId xmlns:p14="http://schemas.microsoft.com/office/powerpoint/2010/main" val="955857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F5AB53-87BB-4F3A-BF3F-F3E88D4B51AF}" type="slidenum">
              <a:rPr lang="en-IN" smtClean="0"/>
              <a:t>16</a:t>
            </a:fld>
            <a:endParaRPr lang="en-IN"/>
          </a:p>
        </p:txBody>
      </p:sp>
    </p:spTree>
    <p:extLst>
      <p:ext uri="{BB962C8B-B14F-4D97-AF65-F5344CB8AC3E}">
        <p14:creationId xmlns:p14="http://schemas.microsoft.com/office/powerpoint/2010/main" val="1776823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F5AB53-87BB-4F3A-BF3F-F3E88D4B51AF}" type="slidenum">
              <a:rPr lang="en-IN" smtClean="0"/>
              <a:t>22</a:t>
            </a:fld>
            <a:endParaRPr lang="en-IN"/>
          </a:p>
        </p:txBody>
      </p:sp>
    </p:spTree>
    <p:extLst>
      <p:ext uri="{BB962C8B-B14F-4D97-AF65-F5344CB8AC3E}">
        <p14:creationId xmlns:p14="http://schemas.microsoft.com/office/powerpoint/2010/main" val="3095458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F5AB53-87BB-4F3A-BF3F-F3E88D4B51AF}" type="slidenum">
              <a:rPr lang="en-IN" smtClean="0"/>
              <a:t>25</a:t>
            </a:fld>
            <a:endParaRPr lang="en-IN"/>
          </a:p>
        </p:txBody>
      </p:sp>
    </p:spTree>
    <p:extLst>
      <p:ext uri="{BB962C8B-B14F-4D97-AF65-F5344CB8AC3E}">
        <p14:creationId xmlns:p14="http://schemas.microsoft.com/office/powerpoint/2010/main" val="2238569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A859E30-8D03-443F-B12A-C012E1E8CB03}" type="datetime1">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608BCD-CBB3-4D36-9E10-0C4065960195}" type="datetime1">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79D5DD-1578-494F-9C11-342A60D84152}" type="datetime1">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3EF83E3-2CC4-419E-8E88-BD2A04B0AF00}" type="datetime1">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0480924-1F53-45BD-A3F1-4BC953004334}" type="datetime1">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F0683CB-CB8B-48BF-B242-91136EE0DCF0}" type="datetime1">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5EA0C3-E371-49EF-8B50-65EBFB3C2AC8}" type="datetime1">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CDF258-B73A-4F76-A9B0-AF1F0BCD8C5D}" type="datetime1">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0320DA-83E0-46B8-94E1-8460F6B0F5CC}" type="datetime1">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103955-B03E-4D55-8C7E-E55218D4FE93}" type="datetime1">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17EF63-53E6-46ED-963E-915119531168}" type="datetime1">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7EE8DE-2FA7-4031-90F3-27913C5C4CB3}" type="datetime1">
              <a:rPr lang="en-US" smtClean="0"/>
              <a:t>3/25/2026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81509" y="1841230"/>
            <a:ext cx="9086491" cy="2502619"/>
          </a:xfrm>
        </p:spPr>
        <p:txBody>
          <a:bodyPr/>
          <a:lstStyle/>
          <a:p>
            <a:r>
              <a:rPr lang="en-US" sz="5400" dirty="0">
                <a:latin typeface="Times New Roman"/>
                <a:ea typeface="Segoe UI Historic"/>
                <a:cs typeface="Segoe UI Historic"/>
              </a:rPr>
              <a:t>CrossTongueGuard: Detecting Cyberbullying in Code-Mixed Conversations.</a:t>
            </a:r>
            <a:endParaRPr lang="en-US" sz="5400" dirty="0">
              <a:latin typeface="Times New Roman"/>
              <a:cs typeface="Times New Roman"/>
            </a:endParaRPr>
          </a:p>
        </p:txBody>
      </p:sp>
      <p:sp>
        <p:nvSpPr>
          <p:cNvPr id="3" name="Subtitle 2"/>
          <p:cNvSpPr>
            <a:spLocks noGrp="1"/>
          </p:cNvSpPr>
          <p:nvPr>
            <p:ph type="subTitle" idx="1"/>
          </p:nvPr>
        </p:nvSpPr>
        <p:spPr>
          <a:xfrm>
            <a:off x="9668933" y="5376333"/>
            <a:ext cx="2048934" cy="1100667"/>
          </a:xfrm>
        </p:spPr>
        <p:txBody>
          <a:bodyPr vert="horz" lIns="91440" tIns="45720" rIns="91440" bIns="45720" rtlCol="0" anchor="t">
            <a:noAutofit/>
          </a:bodyPr>
          <a:lstStyle/>
          <a:p>
            <a:pPr algn="l"/>
            <a:r>
              <a:rPr lang="en-US" sz="1800" b="1" dirty="0">
                <a:latin typeface="Times New Roman"/>
                <a:cs typeface="Times New Roman"/>
              </a:rPr>
              <a:t>Guided By:</a:t>
            </a:r>
            <a:endParaRPr lang="en-US" b="1" dirty="0"/>
          </a:p>
          <a:p>
            <a:pPr algn="l"/>
            <a:r>
              <a:rPr lang="en-US" sz="1800" dirty="0">
                <a:latin typeface="Times New Roman"/>
                <a:cs typeface="Times New Roman"/>
              </a:rPr>
              <a:t>K. Sudhakar</a:t>
            </a:r>
          </a:p>
          <a:p>
            <a:pPr algn="l"/>
            <a:r>
              <a:rPr lang="en-US" sz="1800" dirty="0">
                <a:latin typeface="Times New Roman"/>
                <a:cs typeface="Times New Roman"/>
              </a:rPr>
              <a:t>Assistant Professor</a:t>
            </a:r>
          </a:p>
        </p:txBody>
      </p:sp>
      <p:graphicFrame>
        <p:nvGraphicFramePr>
          <p:cNvPr id="4" name="Table 3">
            <a:extLst>
              <a:ext uri="{FF2B5EF4-FFF2-40B4-BE49-F238E27FC236}">
                <a16:creationId xmlns:a16="http://schemas.microsoft.com/office/drawing/2014/main" id="{5E42CE62-E2D2-E889-1AF5-3B00D0C91397}"/>
              </a:ext>
            </a:extLst>
          </p:cNvPr>
          <p:cNvGraphicFramePr>
            <a:graphicFrameLocks noGrp="1"/>
          </p:cNvGraphicFramePr>
          <p:nvPr>
            <p:extLst>
              <p:ext uri="{D42A27DB-BD31-4B8C-83A1-F6EECF244321}">
                <p14:modId xmlns:p14="http://schemas.microsoft.com/office/powerpoint/2010/main" val="1549599676"/>
              </p:ext>
            </p:extLst>
          </p:nvPr>
        </p:nvGraphicFramePr>
        <p:xfrm>
          <a:off x="228600" y="4743978"/>
          <a:ext cx="3810000" cy="1828800"/>
        </p:xfrm>
        <a:graphic>
          <a:graphicData uri="http://schemas.openxmlformats.org/drawingml/2006/table">
            <a:tbl>
              <a:tblPr firstRow="1" bandRow="1">
                <a:tableStyleId>{5C22544A-7EE6-4342-B048-85BDC9FD1C3A}</a:tableStyleId>
              </a:tblPr>
              <a:tblGrid>
                <a:gridCol w="1842514">
                  <a:extLst>
                    <a:ext uri="{9D8B030D-6E8A-4147-A177-3AD203B41FA5}">
                      <a16:colId xmlns:a16="http://schemas.microsoft.com/office/drawing/2014/main" val="2621818807"/>
                    </a:ext>
                  </a:extLst>
                </a:gridCol>
                <a:gridCol w="301547">
                  <a:extLst>
                    <a:ext uri="{9D8B030D-6E8A-4147-A177-3AD203B41FA5}">
                      <a16:colId xmlns:a16="http://schemas.microsoft.com/office/drawing/2014/main" val="808692025"/>
                    </a:ext>
                  </a:extLst>
                </a:gridCol>
                <a:gridCol w="1665939">
                  <a:extLst>
                    <a:ext uri="{9D8B030D-6E8A-4147-A177-3AD203B41FA5}">
                      <a16:colId xmlns:a16="http://schemas.microsoft.com/office/drawing/2014/main" val="3856155782"/>
                    </a:ext>
                  </a:extLst>
                </a:gridCol>
              </a:tblGrid>
              <a:tr h="339196">
                <a:tc>
                  <a:txBody>
                    <a:bodyPr/>
                    <a:lstStyle/>
                    <a:p>
                      <a:pPr lvl="0">
                        <a:buNone/>
                      </a:pPr>
                      <a:r>
                        <a:rPr lang="en-US" dirty="0">
                          <a:solidFill>
                            <a:schemeClr val="tx1"/>
                          </a:solidFill>
                          <a:latin typeface="Times New Roman"/>
                        </a:rPr>
                        <a:t>Presented By :</a:t>
                      </a:r>
                    </a:p>
                  </a:txBody>
                  <a:tcPr>
                    <a:lnL w="0">
                      <a:noFill/>
                    </a:lnL>
                    <a:lnR w="0">
                      <a:noFill/>
                    </a:lnR>
                    <a:lnT w="0">
                      <a:noFill/>
                    </a:lnT>
                    <a:lnB w="0">
                      <a:noFill/>
                    </a:lnB>
                    <a:solidFill>
                      <a:schemeClr val="bg1"/>
                    </a:solidFill>
                  </a:tcPr>
                </a:tc>
                <a:tc>
                  <a:txBody>
                    <a:bodyPr/>
                    <a:lstStyle/>
                    <a:p>
                      <a:endParaRPr lang="en-US">
                        <a:solidFill>
                          <a:schemeClr val="tx1"/>
                        </a:solidFill>
                        <a:latin typeface="Times New Roman"/>
                      </a:endParaRPr>
                    </a:p>
                  </a:txBody>
                  <a:tcPr>
                    <a:lnL w="0">
                      <a:noFill/>
                    </a:lnL>
                    <a:lnR w="0">
                      <a:noFill/>
                    </a:lnR>
                    <a:lnT w="0">
                      <a:noFill/>
                    </a:lnT>
                    <a:lnB w="0">
                      <a:noFill/>
                    </a:lnB>
                    <a:solidFill>
                      <a:schemeClr val="bg1"/>
                    </a:solidFill>
                  </a:tcPr>
                </a:tc>
                <a:tc>
                  <a:txBody>
                    <a:bodyPr/>
                    <a:lstStyle/>
                    <a:p>
                      <a:endParaRPr lang="en-US" dirty="0">
                        <a:solidFill>
                          <a:schemeClr val="tx1"/>
                        </a:solidFill>
                        <a:latin typeface="Times New Roman"/>
                      </a:endParaRPr>
                    </a:p>
                  </a:txBody>
                  <a:tcPr>
                    <a:lnL w="0">
                      <a:noFill/>
                    </a:lnL>
                    <a:lnR w="0">
                      <a:noFill/>
                    </a:lnR>
                    <a:lnT w="0">
                      <a:noFill/>
                    </a:lnT>
                    <a:lnB w="0">
                      <a:noFill/>
                    </a:lnB>
                    <a:solidFill>
                      <a:schemeClr val="bg1"/>
                    </a:solidFill>
                  </a:tcPr>
                </a:tc>
                <a:extLst>
                  <a:ext uri="{0D108BD9-81ED-4DB2-BD59-A6C34878D82A}">
                    <a16:rowId xmlns:a16="http://schemas.microsoft.com/office/drawing/2014/main" val="3016558274"/>
                  </a:ext>
                </a:extLst>
              </a:tr>
              <a:tr h="339196">
                <a:tc>
                  <a:txBody>
                    <a:bodyPr/>
                    <a:lstStyle/>
                    <a:p>
                      <a:pPr lvl="0">
                        <a:buNone/>
                      </a:pPr>
                      <a:r>
                        <a:rPr lang="en-US">
                          <a:solidFill>
                            <a:schemeClr val="tx1"/>
                          </a:solidFill>
                          <a:latin typeface="Times New Roman"/>
                        </a:rPr>
                        <a:t>B. Denesh Kumar</a:t>
                      </a:r>
                    </a:p>
                  </a:txBody>
                  <a:tcPr>
                    <a:lnL w="0">
                      <a:noFill/>
                    </a:lnL>
                    <a:lnR w="0">
                      <a:noFill/>
                    </a:lnR>
                    <a:lnT w="0">
                      <a:noFill/>
                    </a:lnT>
                    <a:lnB w="0">
                      <a:noFill/>
                    </a:lnB>
                    <a:solidFill>
                      <a:schemeClr val="bg1"/>
                    </a:solidFill>
                  </a:tcPr>
                </a:tc>
                <a:tc>
                  <a:txBody>
                    <a:bodyPr/>
                    <a:lstStyle/>
                    <a:p>
                      <a:pPr lvl="0" algn="ctr">
                        <a:buNone/>
                      </a:pPr>
                      <a:r>
                        <a:rPr lang="en-US">
                          <a:solidFill>
                            <a:schemeClr val="tx1"/>
                          </a:solidFill>
                          <a:latin typeface="Times New Roman"/>
                        </a:rPr>
                        <a:t>-</a:t>
                      </a:r>
                    </a:p>
                  </a:txBody>
                  <a:tcPr>
                    <a:lnL w="0">
                      <a:noFill/>
                    </a:lnL>
                    <a:lnR w="0">
                      <a:noFill/>
                    </a:lnR>
                    <a:lnT w="0">
                      <a:noFill/>
                    </a:lnT>
                    <a:lnB w="0">
                      <a:noFill/>
                    </a:lnB>
                    <a:solidFill>
                      <a:schemeClr val="bg1"/>
                    </a:solidFill>
                  </a:tcPr>
                </a:tc>
                <a:tc>
                  <a:txBody>
                    <a:bodyPr/>
                    <a:lstStyle/>
                    <a:p>
                      <a:pPr lvl="0">
                        <a:buNone/>
                      </a:pPr>
                      <a:r>
                        <a:rPr lang="en-US">
                          <a:solidFill>
                            <a:schemeClr val="tx1"/>
                          </a:solidFill>
                          <a:latin typeface="Times New Roman"/>
                        </a:rPr>
                        <a:t>22891A6606</a:t>
                      </a:r>
                    </a:p>
                  </a:txBody>
                  <a:tcPr>
                    <a:lnL w="0">
                      <a:noFill/>
                    </a:lnL>
                    <a:lnR w="0">
                      <a:noFill/>
                    </a:lnR>
                    <a:lnT w="0">
                      <a:noFill/>
                    </a:lnT>
                    <a:lnB w="0">
                      <a:noFill/>
                    </a:lnB>
                    <a:solidFill>
                      <a:schemeClr val="bg1"/>
                    </a:solidFill>
                  </a:tcPr>
                </a:tc>
                <a:extLst>
                  <a:ext uri="{0D108BD9-81ED-4DB2-BD59-A6C34878D82A}">
                    <a16:rowId xmlns:a16="http://schemas.microsoft.com/office/drawing/2014/main" val="3706792720"/>
                  </a:ext>
                </a:extLst>
              </a:tr>
              <a:tr h="339196">
                <a:tc>
                  <a:txBody>
                    <a:bodyPr/>
                    <a:lstStyle/>
                    <a:p>
                      <a:r>
                        <a:rPr lang="en-US" dirty="0">
                          <a:solidFill>
                            <a:schemeClr val="tx1"/>
                          </a:solidFill>
                          <a:latin typeface="Times New Roman"/>
                        </a:rPr>
                        <a:t>K. Srinadh</a:t>
                      </a:r>
                    </a:p>
                  </a:txBody>
                  <a:tcPr>
                    <a:lnL w="0">
                      <a:noFill/>
                    </a:lnL>
                    <a:lnR w="0">
                      <a:noFill/>
                    </a:lnR>
                    <a:lnT w="0">
                      <a:noFill/>
                    </a:lnT>
                    <a:lnB w="0">
                      <a:noFill/>
                    </a:lnB>
                    <a:solidFill>
                      <a:schemeClr val="bg1"/>
                    </a:solidFill>
                  </a:tcPr>
                </a:tc>
                <a:tc>
                  <a:txBody>
                    <a:bodyPr/>
                    <a:lstStyle/>
                    <a:p>
                      <a:pPr algn="ctr"/>
                      <a:r>
                        <a:rPr lang="en-US">
                          <a:solidFill>
                            <a:schemeClr val="tx1"/>
                          </a:solidFill>
                          <a:latin typeface="Times New Roman"/>
                        </a:rPr>
                        <a:t>-</a:t>
                      </a:r>
                    </a:p>
                  </a:txBody>
                  <a:tcPr>
                    <a:lnL w="0">
                      <a:noFill/>
                    </a:lnL>
                    <a:lnR w="0">
                      <a:noFill/>
                    </a:lnR>
                    <a:lnT w="0">
                      <a:noFill/>
                    </a:lnT>
                    <a:lnB w="0">
                      <a:noFill/>
                    </a:lnB>
                    <a:solidFill>
                      <a:schemeClr val="bg1"/>
                    </a:solidFill>
                  </a:tcPr>
                </a:tc>
                <a:tc>
                  <a:txBody>
                    <a:bodyPr/>
                    <a:lstStyle/>
                    <a:p>
                      <a:r>
                        <a:rPr lang="en-US">
                          <a:solidFill>
                            <a:schemeClr val="tx1"/>
                          </a:solidFill>
                          <a:latin typeface="Times New Roman"/>
                        </a:rPr>
                        <a:t>22891A6622</a:t>
                      </a:r>
                    </a:p>
                  </a:txBody>
                  <a:tcPr>
                    <a:lnL w="0">
                      <a:noFill/>
                    </a:lnL>
                    <a:lnR w="0">
                      <a:noFill/>
                    </a:lnR>
                    <a:lnT w="0">
                      <a:noFill/>
                    </a:lnT>
                    <a:lnB w="0">
                      <a:noFill/>
                    </a:lnB>
                    <a:solidFill>
                      <a:schemeClr val="bg1"/>
                    </a:solidFill>
                  </a:tcPr>
                </a:tc>
                <a:extLst>
                  <a:ext uri="{0D108BD9-81ED-4DB2-BD59-A6C34878D82A}">
                    <a16:rowId xmlns:a16="http://schemas.microsoft.com/office/drawing/2014/main" val="3222429170"/>
                  </a:ext>
                </a:extLst>
              </a:tr>
              <a:tr h="339196">
                <a:tc>
                  <a:txBody>
                    <a:bodyPr/>
                    <a:lstStyle/>
                    <a:p>
                      <a:r>
                        <a:rPr lang="en-US" dirty="0">
                          <a:solidFill>
                            <a:schemeClr val="tx1"/>
                          </a:solidFill>
                          <a:latin typeface="Times New Roman"/>
                        </a:rPr>
                        <a:t>N. Upender Goud</a:t>
                      </a:r>
                    </a:p>
                  </a:txBody>
                  <a:tcPr>
                    <a:lnL w="0">
                      <a:noFill/>
                    </a:lnL>
                    <a:lnR w="0">
                      <a:noFill/>
                    </a:lnR>
                    <a:lnT w="0">
                      <a:noFill/>
                    </a:lnT>
                    <a:lnB w="0">
                      <a:noFill/>
                    </a:lnB>
                    <a:solidFill>
                      <a:schemeClr val="bg1"/>
                    </a:solidFill>
                  </a:tcPr>
                </a:tc>
                <a:tc>
                  <a:txBody>
                    <a:bodyPr/>
                    <a:lstStyle/>
                    <a:p>
                      <a:pPr algn="ctr"/>
                      <a:r>
                        <a:rPr lang="en-US">
                          <a:solidFill>
                            <a:schemeClr val="tx1"/>
                          </a:solidFill>
                          <a:latin typeface="Times New Roman"/>
                        </a:rPr>
                        <a:t>-</a:t>
                      </a:r>
                    </a:p>
                  </a:txBody>
                  <a:tcPr>
                    <a:lnL w="0">
                      <a:noFill/>
                    </a:lnL>
                    <a:lnR w="0">
                      <a:noFill/>
                    </a:lnR>
                    <a:lnT w="0">
                      <a:noFill/>
                    </a:lnT>
                    <a:lnB w="0">
                      <a:noFill/>
                    </a:lnB>
                    <a:solidFill>
                      <a:schemeClr val="bg1"/>
                    </a:solidFill>
                  </a:tcPr>
                </a:tc>
                <a:tc>
                  <a:txBody>
                    <a:bodyPr/>
                    <a:lstStyle/>
                    <a:p>
                      <a:r>
                        <a:rPr lang="en-US">
                          <a:solidFill>
                            <a:schemeClr val="tx1"/>
                          </a:solidFill>
                          <a:latin typeface="Times New Roman"/>
                        </a:rPr>
                        <a:t>22891A6639</a:t>
                      </a:r>
                    </a:p>
                  </a:txBody>
                  <a:tcPr>
                    <a:lnL w="0">
                      <a:noFill/>
                    </a:lnL>
                    <a:lnR w="0">
                      <a:noFill/>
                    </a:lnR>
                    <a:lnT w="0">
                      <a:noFill/>
                    </a:lnT>
                    <a:lnB w="0">
                      <a:noFill/>
                    </a:lnB>
                    <a:solidFill>
                      <a:schemeClr val="bg1"/>
                    </a:solidFill>
                  </a:tcPr>
                </a:tc>
                <a:extLst>
                  <a:ext uri="{0D108BD9-81ED-4DB2-BD59-A6C34878D82A}">
                    <a16:rowId xmlns:a16="http://schemas.microsoft.com/office/drawing/2014/main" val="1559072687"/>
                  </a:ext>
                </a:extLst>
              </a:tr>
              <a:tr h="339196">
                <a:tc>
                  <a:txBody>
                    <a:bodyPr/>
                    <a:lstStyle/>
                    <a:p>
                      <a:r>
                        <a:rPr lang="en-US">
                          <a:solidFill>
                            <a:schemeClr val="tx1"/>
                          </a:solidFill>
                          <a:latin typeface="Times New Roman"/>
                        </a:rPr>
                        <a:t>P. Bhaskar</a:t>
                      </a:r>
                    </a:p>
                  </a:txBody>
                  <a:tcPr>
                    <a:lnL w="0">
                      <a:noFill/>
                    </a:lnL>
                    <a:lnR w="0">
                      <a:noFill/>
                    </a:lnR>
                    <a:lnT w="0">
                      <a:noFill/>
                    </a:lnT>
                    <a:lnB w="0">
                      <a:noFill/>
                    </a:lnB>
                    <a:solidFill>
                      <a:schemeClr val="bg1"/>
                    </a:solidFill>
                  </a:tcPr>
                </a:tc>
                <a:tc>
                  <a:txBody>
                    <a:bodyPr/>
                    <a:lstStyle/>
                    <a:p>
                      <a:pPr algn="ctr"/>
                      <a:r>
                        <a:rPr lang="en-US">
                          <a:solidFill>
                            <a:schemeClr val="tx1"/>
                          </a:solidFill>
                          <a:latin typeface="Times New Roman"/>
                        </a:rPr>
                        <a:t>-</a:t>
                      </a:r>
                    </a:p>
                  </a:txBody>
                  <a:tcPr>
                    <a:lnL w="0">
                      <a:noFill/>
                    </a:lnL>
                    <a:lnR w="0">
                      <a:noFill/>
                    </a:lnR>
                    <a:lnT w="0">
                      <a:noFill/>
                    </a:lnT>
                    <a:lnB w="0">
                      <a:noFill/>
                    </a:lnB>
                    <a:solidFill>
                      <a:schemeClr val="bg1"/>
                    </a:solidFill>
                  </a:tcPr>
                </a:tc>
                <a:tc>
                  <a:txBody>
                    <a:bodyPr/>
                    <a:lstStyle/>
                    <a:p>
                      <a:r>
                        <a:rPr lang="en-US" dirty="0">
                          <a:solidFill>
                            <a:schemeClr val="tx1"/>
                          </a:solidFill>
                          <a:latin typeface="Times New Roman"/>
                        </a:rPr>
                        <a:t>22891A6643</a:t>
                      </a:r>
                    </a:p>
                  </a:txBody>
                  <a:tcPr>
                    <a:lnL w="0">
                      <a:noFill/>
                    </a:lnL>
                    <a:lnR w="0">
                      <a:noFill/>
                    </a:lnR>
                    <a:lnT w="0">
                      <a:noFill/>
                    </a:lnT>
                    <a:lnB w="0">
                      <a:noFill/>
                    </a:lnB>
                    <a:solidFill>
                      <a:schemeClr val="bg1"/>
                    </a:solidFill>
                  </a:tcPr>
                </a:tc>
                <a:extLst>
                  <a:ext uri="{0D108BD9-81ED-4DB2-BD59-A6C34878D82A}">
                    <a16:rowId xmlns:a16="http://schemas.microsoft.com/office/drawing/2014/main" val="2924817163"/>
                  </a:ext>
                </a:extLst>
              </a:tr>
            </a:tbl>
          </a:graphicData>
        </a:graphic>
      </p:graphicFrame>
      <p:graphicFrame>
        <p:nvGraphicFramePr>
          <p:cNvPr id="5" name="Table 4">
            <a:extLst>
              <a:ext uri="{FF2B5EF4-FFF2-40B4-BE49-F238E27FC236}">
                <a16:creationId xmlns:a16="http://schemas.microsoft.com/office/drawing/2014/main" id="{DFA7A1DB-5A42-9DD1-5E7C-3E94B13785A6}"/>
              </a:ext>
            </a:extLst>
          </p:cNvPr>
          <p:cNvGraphicFramePr>
            <a:graphicFrameLocks noGrp="1"/>
          </p:cNvGraphicFramePr>
          <p:nvPr>
            <p:extLst>
              <p:ext uri="{D42A27DB-BD31-4B8C-83A1-F6EECF244321}">
                <p14:modId xmlns:p14="http://schemas.microsoft.com/office/powerpoint/2010/main" val="1880569801"/>
              </p:ext>
            </p:extLst>
          </p:nvPr>
        </p:nvGraphicFramePr>
        <p:xfrm>
          <a:off x="-14377" y="0"/>
          <a:ext cx="11527719" cy="1788445"/>
        </p:xfrm>
        <a:graphic>
          <a:graphicData uri="http://schemas.openxmlformats.org/drawingml/2006/table">
            <a:tbl>
              <a:tblPr firstRow="1" bandRow="1">
                <a:tableStyleId>{5C22544A-7EE6-4342-B048-85BDC9FD1C3A}</a:tableStyleId>
              </a:tblPr>
              <a:tblGrid>
                <a:gridCol w="11527719">
                  <a:extLst>
                    <a:ext uri="{9D8B030D-6E8A-4147-A177-3AD203B41FA5}">
                      <a16:colId xmlns:a16="http://schemas.microsoft.com/office/drawing/2014/main" val="2479729850"/>
                    </a:ext>
                  </a:extLst>
                </a:gridCol>
              </a:tblGrid>
              <a:tr h="1788445">
                <a:tc>
                  <a:txBody>
                    <a:bodyPr/>
                    <a:lstStyle/>
                    <a:p>
                      <a:endParaRPr lang="en-US" dirty="0"/>
                    </a:p>
                  </a:txBody>
                  <a:tcPr>
                    <a:solidFill>
                      <a:schemeClr val="bg1"/>
                    </a:solidFill>
                  </a:tcPr>
                </a:tc>
                <a:extLst>
                  <a:ext uri="{0D108BD9-81ED-4DB2-BD59-A6C34878D82A}">
                    <a16:rowId xmlns:a16="http://schemas.microsoft.com/office/drawing/2014/main" val="131939989"/>
                  </a:ext>
                </a:extLst>
              </a:tr>
            </a:tbl>
          </a:graphicData>
        </a:graphic>
      </p:graphicFrame>
      <p:pic>
        <p:nvPicPr>
          <p:cNvPr id="6" name="Picture 5">
            <a:extLst>
              <a:ext uri="{FF2B5EF4-FFF2-40B4-BE49-F238E27FC236}">
                <a16:creationId xmlns:a16="http://schemas.microsoft.com/office/drawing/2014/main" id="{4F827AB0-71C1-18BA-2769-5F667E48EB0E}"/>
              </a:ext>
            </a:extLst>
          </p:cNvPr>
          <p:cNvPicPr>
            <a:picLocks noChangeAspect="1"/>
          </p:cNvPicPr>
          <p:nvPr/>
        </p:nvPicPr>
        <p:blipFill>
          <a:blip r:embed="rId3">
            <a:extLst>
              <a:ext uri="{28A0092B-C50C-407E-A947-70E740481C1C}">
                <a14:useLocalDpi xmlns:a14="http://schemas.microsoft.com/office/drawing/2010/main" val="0"/>
              </a:ext>
            </a:extLst>
          </a:blip>
          <a:srcRect t="2762" b="2762"/>
          <a:stretch/>
        </p:blipFill>
        <p:spPr>
          <a:xfrm>
            <a:off x="0" y="-3325"/>
            <a:ext cx="12191999" cy="1717556"/>
          </a:xfrm>
          <a:prstGeom prst="rect">
            <a:avLst/>
          </a:prstGeom>
        </p:spPr>
      </p:pic>
      <p:sp>
        <p:nvSpPr>
          <p:cNvPr id="7" name="Slide Number Placeholder 6">
            <a:extLst>
              <a:ext uri="{FF2B5EF4-FFF2-40B4-BE49-F238E27FC236}">
                <a16:creationId xmlns:a16="http://schemas.microsoft.com/office/drawing/2014/main" id="{0BA290FB-B1EF-839E-8382-FCAC1011BADB}"/>
              </a:ext>
            </a:extLst>
          </p:cNvPr>
          <p:cNvSpPr>
            <a:spLocks noGrp="1"/>
          </p:cNvSpPr>
          <p:nvPr>
            <p:ph type="sldNum" sz="quarter" idx="12"/>
          </p:nvPr>
        </p:nvSpPr>
        <p:spPr/>
        <p:txBody>
          <a:bodyPr/>
          <a:lstStyle/>
          <a:p>
            <a:r>
              <a:rPr lang="en-US" dirty="0"/>
              <a:t>1</a:t>
            </a:r>
          </a:p>
        </p:txBody>
      </p:sp>
      <p:sp>
        <p:nvSpPr>
          <p:cNvPr id="8" name="Footer Placeholder 7">
            <a:extLst>
              <a:ext uri="{FF2B5EF4-FFF2-40B4-BE49-F238E27FC236}">
                <a16:creationId xmlns:a16="http://schemas.microsoft.com/office/drawing/2014/main" id="{4EB0B1FE-C3AE-8843-8C29-C401C39A3FC3}"/>
              </a:ext>
            </a:extLst>
          </p:cNvPr>
          <p:cNvSpPr>
            <a:spLocks noGrp="1"/>
          </p:cNvSpPr>
          <p:nvPr>
            <p:ph type="ftr" sz="quarter" idx="11"/>
          </p:nvPr>
        </p:nvSpPr>
        <p:spPr>
          <a:xfrm>
            <a:off x="4038600" y="6477000"/>
            <a:ext cx="4114800" cy="244475"/>
          </a:xfrm>
        </p:spPr>
        <p:txBody>
          <a:bodyPr/>
          <a:lstStyle/>
          <a:p>
            <a:r>
              <a:rPr lang="en-US" dirty="0"/>
              <a:t>A13</a:t>
            </a: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49DF9-C1DF-6B1B-C9B7-B50065EFE9BF}"/>
              </a:ext>
            </a:extLst>
          </p:cNvPr>
          <p:cNvSpPr>
            <a:spLocks noGrp="1"/>
          </p:cNvSpPr>
          <p:nvPr>
            <p:ph type="title"/>
          </p:nvPr>
        </p:nvSpPr>
        <p:spPr>
          <a:xfrm>
            <a:off x="0" y="304799"/>
            <a:ext cx="12192000" cy="685801"/>
          </a:xfrm>
        </p:spPr>
        <p:txBody>
          <a:bodyPr>
            <a:normAutofit fontScale="90000"/>
          </a:bodyPr>
          <a:lstStyle/>
          <a:p>
            <a:r>
              <a:rPr lang="en-IN" dirty="0"/>
              <a:t>  </a:t>
            </a:r>
            <a:r>
              <a:rPr lang="en-IN" sz="5300" dirty="0">
                <a:latin typeface="Times New Roman" panose="02020603050405020304" pitchFamily="18" charset="0"/>
                <a:cs typeface="Times New Roman" panose="02020603050405020304" pitchFamily="18" charset="0"/>
              </a:rPr>
              <a:t>1. </a:t>
            </a:r>
            <a:r>
              <a:rPr lang="en-IN" sz="5300" u="sng" dirty="0">
                <a:latin typeface="Times New Roman" panose="02020603050405020304" pitchFamily="18" charset="0"/>
                <a:cs typeface="Times New Roman" panose="02020603050405020304" pitchFamily="18" charset="0"/>
              </a:rPr>
              <a:t>INTRODUCTION</a:t>
            </a:r>
          </a:p>
        </p:txBody>
      </p:sp>
      <p:sp>
        <p:nvSpPr>
          <p:cNvPr id="5" name="Content Placeholder 4">
            <a:extLst>
              <a:ext uri="{FF2B5EF4-FFF2-40B4-BE49-F238E27FC236}">
                <a16:creationId xmlns:a16="http://schemas.microsoft.com/office/drawing/2014/main" id="{E7C46906-64DF-D780-3E64-02CC40BCEED9}"/>
              </a:ext>
            </a:extLst>
          </p:cNvPr>
          <p:cNvSpPr>
            <a:spLocks noGrp="1"/>
          </p:cNvSpPr>
          <p:nvPr>
            <p:ph idx="1"/>
          </p:nvPr>
        </p:nvSpPr>
        <p:spPr>
          <a:xfrm>
            <a:off x="152400" y="1143000"/>
            <a:ext cx="11887200" cy="5033963"/>
          </a:xfrm>
        </p:spPr>
        <p:txBody>
          <a:bodyPr>
            <a:normAutofit/>
          </a:bodyPr>
          <a:lstStyle/>
          <a:p>
            <a:pPr algn="just"/>
            <a:r>
              <a:rPr lang="en-US" sz="2000" dirty="0">
                <a:latin typeface="Times New Roman" panose="02020603050405020304" pitchFamily="18" charset="0"/>
                <a:cs typeface="Times New Roman" panose="02020603050405020304" pitchFamily="18" charset="0"/>
              </a:rPr>
              <a:t>The rapid growth of social media platforms and online communication has significantly increased the amount of user-generated content on the internet. </a:t>
            </a:r>
          </a:p>
          <a:p>
            <a:pPr algn="just"/>
            <a:r>
              <a:rPr lang="en-US" sz="2000" dirty="0">
                <a:latin typeface="Times New Roman" panose="02020603050405020304" pitchFamily="18" charset="0"/>
                <a:cs typeface="Times New Roman" panose="02020603050405020304" pitchFamily="18" charset="0"/>
              </a:rPr>
              <a:t>While these platforms provide opportunities for interaction and knowledge sharing, they have also led to the emergence of harmful behaviors such as cyberbullying.</a:t>
            </a:r>
          </a:p>
          <a:p>
            <a:pPr algn="just"/>
            <a:r>
              <a:rPr lang="en-US" sz="2000" dirty="0">
                <a:latin typeface="Times New Roman" panose="02020603050405020304" pitchFamily="18" charset="0"/>
                <a:cs typeface="Times New Roman" panose="02020603050405020304" pitchFamily="18" charset="0"/>
              </a:rPr>
              <a:t>Cyberbullying refers to the use of digital communication platforms to harass, threaten, or harm individuals through offensive messages, abusive language, or aggressive behavior. </a:t>
            </a:r>
          </a:p>
          <a:p>
            <a:pPr algn="just"/>
            <a:r>
              <a:rPr lang="en-US" sz="2000" dirty="0">
                <a:latin typeface="Times New Roman" panose="02020603050405020304" pitchFamily="18" charset="0"/>
                <a:cs typeface="Times New Roman" panose="02020603050405020304" pitchFamily="18" charset="0"/>
              </a:rPr>
              <a:t>This issue has become a major concern as it can lead to emotional distress, psychological trauma, and social isolation among victims.</a:t>
            </a:r>
          </a:p>
          <a:p>
            <a:pPr algn="just"/>
            <a:r>
              <a:rPr lang="en-US" sz="2000" dirty="0">
                <a:latin typeface="Times New Roman" panose="02020603050405020304" pitchFamily="18" charset="0"/>
                <a:cs typeface="Times New Roman" panose="02020603050405020304" pitchFamily="18" charset="0"/>
              </a:rPr>
              <a:t>In multilingual societies, users often communicate using code-mixed language, where words from multiple languages are combined within a single sentence. </a:t>
            </a:r>
          </a:p>
          <a:p>
            <a:pPr algn="just"/>
            <a:r>
              <a:rPr lang="en-US" sz="2000" dirty="0">
                <a:latin typeface="Times New Roman" panose="02020603050405020304" pitchFamily="18" charset="0"/>
                <a:cs typeface="Times New Roman" panose="02020603050405020304" pitchFamily="18" charset="0"/>
              </a:rPr>
              <a:t>For example, users may mix English with regional languages while expressing their thoughts online. This type of language usage makes it difficult for traditional text classification systems to accurately detect harmful or abusive content.</a:t>
            </a:r>
          </a:p>
          <a:p>
            <a:pPr algn="just"/>
            <a:r>
              <a:rPr lang="en-US" sz="2000" dirty="0">
                <a:latin typeface="Times New Roman" panose="02020603050405020304" pitchFamily="18" charset="0"/>
                <a:cs typeface="Times New Roman" panose="02020603050405020304" pitchFamily="18" charset="0"/>
              </a:rPr>
              <a:t>The presence of slang, informal expressions, and transliterated words further increases the complexity of analyzing such text.</a:t>
            </a:r>
          </a:p>
          <a:p>
            <a:endParaRPr lang="en-IN" sz="20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A52A95A-94ED-8CED-8FAC-74E63612EF73}"/>
              </a:ext>
            </a:extLst>
          </p:cNvPr>
          <p:cNvSpPr>
            <a:spLocks noGrp="1"/>
          </p:cNvSpPr>
          <p:nvPr>
            <p:ph type="ftr" sz="quarter" idx="11"/>
          </p:nvPr>
        </p:nvSpPr>
        <p:spPr>
          <a:xfrm>
            <a:off x="4038600" y="6356350"/>
            <a:ext cx="4114800" cy="365125"/>
          </a:xfrm>
        </p:spPr>
        <p:txBody>
          <a:bodyPr/>
          <a:lstStyle/>
          <a:p>
            <a:r>
              <a:rPr lang="en-US" dirty="0"/>
              <a:t>A13</a:t>
            </a:r>
          </a:p>
        </p:txBody>
      </p:sp>
      <p:sp>
        <p:nvSpPr>
          <p:cNvPr id="4" name="Slide Number Placeholder 3">
            <a:extLst>
              <a:ext uri="{FF2B5EF4-FFF2-40B4-BE49-F238E27FC236}">
                <a16:creationId xmlns:a16="http://schemas.microsoft.com/office/drawing/2014/main" id="{5DEAA70F-60F9-80AE-DCE3-2B37CB07F740}"/>
              </a:ext>
            </a:extLst>
          </p:cNvPr>
          <p:cNvSpPr>
            <a:spLocks noGrp="1"/>
          </p:cNvSpPr>
          <p:nvPr>
            <p:ph type="sldNum" sz="quarter" idx="12"/>
          </p:nvPr>
        </p:nvSpPr>
        <p:spPr/>
        <p:txBody>
          <a:bodyPr/>
          <a:lstStyle/>
          <a:p>
            <a:fld id="{330EA680-D336-4FF7-8B7A-9848BB0A1C32}" type="slidenum">
              <a:rPr lang="en-US" smtClean="0"/>
              <a:t>2</a:t>
            </a:fld>
            <a:endParaRPr lang="en-US"/>
          </a:p>
        </p:txBody>
      </p:sp>
    </p:spTree>
    <p:extLst>
      <p:ext uri="{BB962C8B-B14F-4D97-AF65-F5344CB8AC3E}">
        <p14:creationId xmlns:p14="http://schemas.microsoft.com/office/powerpoint/2010/main" val="3520872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5559DD-6D76-C77F-BB3A-FA46A68F8957}"/>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CE7FFC97-F027-E06D-FBFB-B944FAA5E56B}"/>
              </a:ext>
            </a:extLst>
          </p:cNvPr>
          <p:cNvSpPr>
            <a:spLocks noGrp="1"/>
          </p:cNvSpPr>
          <p:nvPr>
            <p:ph type="sldNum" sz="quarter" idx="12"/>
          </p:nvPr>
        </p:nvSpPr>
        <p:spPr/>
        <p:txBody>
          <a:bodyPr/>
          <a:lstStyle/>
          <a:p>
            <a:fld id="{330EA680-D336-4FF7-8B7A-9848BB0A1C32}" type="slidenum">
              <a:rPr lang="en-US" smtClean="0"/>
              <a:t>3</a:t>
            </a:fld>
            <a:endParaRPr lang="en-US"/>
          </a:p>
        </p:txBody>
      </p:sp>
      <p:sp>
        <p:nvSpPr>
          <p:cNvPr id="5" name="TextBox 4">
            <a:extLst>
              <a:ext uri="{FF2B5EF4-FFF2-40B4-BE49-F238E27FC236}">
                <a16:creationId xmlns:a16="http://schemas.microsoft.com/office/drawing/2014/main" id="{BD4D16A7-15F2-009A-32A9-89D1B88C9B24}"/>
              </a:ext>
            </a:extLst>
          </p:cNvPr>
          <p:cNvSpPr txBox="1"/>
          <p:nvPr/>
        </p:nvSpPr>
        <p:spPr>
          <a:xfrm>
            <a:off x="152400" y="136525"/>
            <a:ext cx="11887200" cy="4401205"/>
          </a:xfrm>
          <a:prstGeom prst="rect">
            <a:avLst/>
          </a:prstGeom>
          <a:noFill/>
        </p:spPr>
        <p:txBody>
          <a:bodyPr wrap="square" rtlCol="0">
            <a:spAutoFit/>
          </a:bodyPr>
          <a:lstStyle/>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cyberbullying detection methods mainly rely on keyword filtering or basic machine learning techniques, which often fail to understand the contextual meaning of code-mixed conversations.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 a result, many harmful messages remain undetected or are incorrectly classified. Therefore, there is a need for an intelligent and context-aware system that can effectively detect cyberbullying in multilingual and code-mixed environments.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address this challenge, this project proposes CrossTongueGuard, an automated cyberbullying detection framework that combines traditional machine learning models with advanced transformer-based language models.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performs text preprocessing, feature extraction, and contextual analysis to identify harmful messages in code-mixed conversations.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By using statistical and contextual learning approaches, the proposed system aims to improve the accuracy and reliability of cyberbullying detection and contribute to creating a safer online communication environment.</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8673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8DD4A-0844-6666-0212-9D6A541B4BCD}"/>
              </a:ext>
            </a:extLst>
          </p:cNvPr>
          <p:cNvSpPr>
            <a:spLocks noGrp="1"/>
          </p:cNvSpPr>
          <p:nvPr>
            <p:ph type="title"/>
          </p:nvPr>
        </p:nvSpPr>
        <p:spPr>
          <a:xfrm>
            <a:off x="0" y="228601"/>
            <a:ext cx="12192000" cy="914400"/>
          </a:xfrm>
        </p:spPr>
        <p:txBody>
          <a:bodyPr>
            <a:normAutofit/>
          </a:bodyPr>
          <a:lstStyle/>
          <a:p>
            <a:r>
              <a:rPr lang="en-IN" sz="4800" dirty="0">
                <a:latin typeface="Times New Roman" panose="02020603050405020304" pitchFamily="18" charset="0"/>
                <a:cs typeface="Times New Roman" panose="02020603050405020304" pitchFamily="18" charset="0"/>
              </a:rPr>
              <a:t> 2. </a:t>
            </a:r>
            <a:r>
              <a:rPr lang="en-IN" sz="4800" u="sng" dirty="0">
                <a:latin typeface="Times New Roman" panose="02020603050405020304" pitchFamily="18" charset="0"/>
                <a:cs typeface="Times New Roman" panose="02020603050405020304" pitchFamily="18" charset="0"/>
              </a:rPr>
              <a:t>PROBLEM STATEMENT</a:t>
            </a:r>
          </a:p>
        </p:txBody>
      </p:sp>
      <p:sp>
        <p:nvSpPr>
          <p:cNvPr id="5" name="Content Placeholder 4">
            <a:extLst>
              <a:ext uri="{FF2B5EF4-FFF2-40B4-BE49-F238E27FC236}">
                <a16:creationId xmlns:a16="http://schemas.microsoft.com/office/drawing/2014/main" id="{0785B9EB-7117-B737-467C-D05C5958B39A}"/>
              </a:ext>
            </a:extLst>
          </p:cNvPr>
          <p:cNvSpPr>
            <a:spLocks noGrp="1"/>
          </p:cNvSpPr>
          <p:nvPr>
            <p:ph idx="1"/>
          </p:nvPr>
        </p:nvSpPr>
        <p:spPr>
          <a:xfrm>
            <a:off x="152400" y="1143002"/>
            <a:ext cx="11887200" cy="5105400"/>
          </a:xfrm>
        </p:spPr>
        <p:txBody>
          <a:bodyPr>
            <a:normAutofit/>
          </a:bodyPr>
          <a:lstStyle/>
          <a:p>
            <a:pPr algn="just">
              <a:lnSpc>
                <a:spcPct val="120000"/>
              </a:lnSpc>
            </a:pPr>
            <a:r>
              <a:rPr lang="en-US" sz="2000" dirty="0">
                <a:latin typeface="Times New Roman" panose="02020603050405020304" pitchFamily="18" charset="0"/>
                <a:cs typeface="Times New Roman" panose="02020603050405020304" pitchFamily="18" charset="0"/>
              </a:rPr>
              <a:t>The rapid growth of social media platforms and online communication has led to a significant increase in cyberbullying incidents. </a:t>
            </a:r>
          </a:p>
          <a:p>
            <a:pPr algn="just">
              <a:lnSpc>
                <a:spcPct val="120000"/>
              </a:lnSpc>
            </a:pPr>
            <a:r>
              <a:rPr lang="en-US" sz="2000" dirty="0">
                <a:latin typeface="Times New Roman" panose="02020603050405020304" pitchFamily="18" charset="0"/>
                <a:cs typeface="Times New Roman" panose="02020603050405020304" pitchFamily="18" charset="0"/>
              </a:rPr>
              <a:t>Users often post abusive, aggressive, or harmful messages that target individuals or groups, which can lead to emotional distress, psychological trauma, and negative social impacts. </a:t>
            </a:r>
          </a:p>
          <a:p>
            <a:pPr algn="just">
              <a:lnSpc>
                <a:spcPct val="120000"/>
              </a:lnSpc>
            </a:pPr>
            <a:r>
              <a:rPr lang="en-US" sz="2000" dirty="0">
                <a:latin typeface="Times New Roman" panose="02020603050405020304" pitchFamily="18" charset="0"/>
                <a:cs typeface="Times New Roman" panose="02020603050405020304" pitchFamily="18" charset="0"/>
              </a:rPr>
              <a:t>Detecting such harmful content manually is extremely difficult due to the massive volume of user-generated text produced every day.</a:t>
            </a:r>
          </a:p>
          <a:p>
            <a:pPr algn="just">
              <a:lnSpc>
                <a:spcPct val="120000"/>
              </a:lnSpc>
            </a:pPr>
            <a:r>
              <a:rPr lang="en-US" sz="2000" dirty="0">
                <a:latin typeface="Times New Roman" panose="02020603050405020304" pitchFamily="18" charset="0"/>
                <a:cs typeface="Times New Roman" panose="02020603050405020304" pitchFamily="18" charset="0"/>
              </a:rPr>
              <a:t>The problem becomes more complex in multilingual environments, where people frequently communicate using code-mixed language, combining words from multiple languages in a single sentence. </a:t>
            </a:r>
          </a:p>
          <a:p>
            <a:pPr algn="just">
              <a:lnSpc>
                <a:spcPct val="120000"/>
              </a:lnSpc>
            </a:pPr>
            <a:r>
              <a:rPr lang="en-US" sz="2000" dirty="0">
                <a:latin typeface="Times New Roman" panose="02020603050405020304" pitchFamily="18" charset="0"/>
                <a:cs typeface="Times New Roman" panose="02020603050405020304" pitchFamily="18" charset="0"/>
              </a:rPr>
              <a:t>In addition, users often use slang, abbreviations, and transliterated words, making it difficult for traditional cyberbullying detection systems to correctly interpret the meaning of the text.</a:t>
            </a:r>
          </a:p>
          <a:p>
            <a:pPr algn="just">
              <a:lnSpc>
                <a:spcPct val="120000"/>
              </a:lnSpc>
            </a:pPr>
            <a:r>
              <a:rPr lang="en-US" sz="2000" dirty="0">
                <a:latin typeface="Times New Roman" panose="02020603050405020304" pitchFamily="18" charset="0"/>
                <a:cs typeface="Times New Roman" panose="02020603050405020304" pitchFamily="18" charset="0"/>
              </a:rPr>
              <a:t>Most existing systems are designed for single-language text and rely on basic keyword filtering or traditional machine learning techniques. </a:t>
            </a:r>
          </a:p>
        </p:txBody>
      </p:sp>
      <p:sp>
        <p:nvSpPr>
          <p:cNvPr id="3" name="Footer Placeholder 2">
            <a:extLst>
              <a:ext uri="{FF2B5EF4-FFF2-40B4-BE49-F238E27FC236}">
                <a16:creationId xmlns:a16="http://schemas.microsoft.com/office/drawing/2014/main" id="{930C050E-9D52-FADF-B1BD-58081E9A58FC}"/>
              </a:ext>
            </a:extLst>
          </p:cNvPr>
          <p:cNvSpPr>
            <a:spLocks noGrp="1"/>
          </p:cNvSpPr>
          <p:nvPr>
            <p:ph type="ftr" sz="quarter" idx="11"/>
          </p:nvPr>
        </p:nvSpPr>
        <p:spPr/>
        <p:txBody>
          <a:bodyPr/>
          <a:lstStyle/>
          <a:p>
            <a:r>
              <a:rPr lang="en-US" dirty="0"/>
              <a:t>A13</a:t>
            </a:r>
          </a:p>
        </p:txBody>
      </p:sp>
      <p:sp>
        <p:nvSpPr>
          <p:cNvPr id="4" name="Slide Number Placeholder 3">
            <a:extLst>
              <a:ext uri="{FF2B5EF4-FFF2-40B4-BE49-F238E27FC236}">
                <a16:creationId xmlns:a16="http://schemas.microsoft.com/office/drawing/2014/main" id="{858B42B0-72C5-32F8-CFFD-5070CE11F62E}"/>
              </a:ext>
            </a:extLst>
          </p:cNvPr>
          <p:cNvSpPr>
            <a:spLocks noGrp="1"/>
          </p:cNvSpPr>
          <p:nvPr>
            <p:ph type="sldNum" sz="quarter" idx="12"/>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3679699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5CA7988-9C8C-A046-D425-BCE3E1793705}"/>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ECD2A0F9-A8A4-96D8-57A1-648D7DD665DC}"/>
              </a:ext>
            </a:extLst>
          </p:cNvPr>
          <p:cNvSpPr>
            <a:spLocks noGrp="1"/>
          </p:cNvSpPr>
          <p:nvPr>
            <p:ph type="sldNum" sz="quarter" idx="12"/>
          </p:nvPr>
        </p:nvSpPr>
        <p:spPr/>
        <p:txBody>
          <a:bodyPr/>
          <a:lstStyle/>
          <a:p>
            <a:fld id="{330EA680-D336-4FF7-8B7A-9848BB0A1C32}" type="slidenum">
              <a:rPr lang="en-US" smtClean="0"/>
              <a:t>5</a:t>
            </a:fld>
            <a:endParaRPr lang="en-US"/>
          </a:p>
        </p:txBody>
      </p:sp>
      <p:sp>
        <p:nvSpPr>
          <p:cNvPr id="6" name="TextBox 5">
            <a:extLst>
              <a:ext uri="{FF2B5EF4-FFF2-40B4-BE49-F238E27FC236}">
                <a16:creationId xmlns:a16="http://schemas.microsoft.com/office/drawing/2014/main" id="{D277AE5E-997E-EC96-AF78-3D8EE00203D4}"/>
              </a:ext>
            </a:extLst>
          </p:cNvPr>
          <p:cNvSpPr txBox="1"/>
          <p:nvPr/>
        </p:nvSpPr>
        <p:spPr>
          <a:xfrm>
            <a:off x="152400" y="228600"/>
            <a:ext cx="11887200" cy="5040226"/>
          </a:xfrm>
          <a:prstGeom prst="rect">
            <a:avLst/>
          </a:prstGeom>
          <a:noFill/>
        </p:spPr>
        <p:txBody>
          <a:bodyPr wrap="square" rtlCol="0">
            <a:spAutoFit/>
          </a:bodyPr>
          <a:lstStyle/>
          <a:p>
            <a:pPr marL="342900" indent="-342900" algn="just">
              <a:lnSpc>
                <a:spcPct val="12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approaches often fail to capture the context and semantic meaning of code-mixed conversations, resulting in inaccurate predictions and undetected harmful messages.</a:t>
            </a:r>
          </a:p>
          <a:p>
            <a:pPr marL="342900" indent="-342900" algn="just">
              <a:lnSpc>
                <a:spcPct val="12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Therefore, it is important to develop an intelligent and efficient system that can automatically analyze multilingual code-mixed text and accurately detect cyberbullying content. </a:t>
            </a:r>
          </a:p>
          <a:p>
            <a:pPr algn="just">
              <a:lnSpc>
                <a:spcPct val="120000"/>
              </a:lnSpc>
            </a:pPr>
            <a:endParaRPr lang="en-US" sz="2000" b="1" dirty="0">
              <a:latin typeface="Times New Roman" panose="02020603050405020304" pitchFamily="18" charset="0"/>
              <a:cs typeface="Times New Roman" panose="02020603050405020304" pitchFamily="18" charset="0"/>
            </a:endParaRPr>
          </a:p>
          <a:p>
            <a:pPr algn="just">
              <a:lnSpc>
                <a:spcPct val="120000"/>
              </a:lnSpc>
            </a:pPr>
            <a:r>
              <a:rPr lang="en-IN" sz="2000" b="1" u="sng" dirty="0">
                <a:latin typeface="Times New Roman" panose="02020603050405020304" pitchFamily="18" charset="0"/>
                <a:cs typeface="Times New Roman" panose="02020603050405020304" pitchFamily="18" charset="0"/>
              </a:rPr>
              <a:t>Problem Addressed</a:t>
            </a:r>
            <a:endParaRPr lang="en-IN" sz="2000" u="sng"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Increasing cyberbullying on online platforms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Difficulty in detecting harmful messages automatically</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Code-mixed language complicates text analysis</a:t>
            </a:r>
          </a:p>
          <a:p>
            <a:pPr algn="just"/>
            <a:endParaRPr lang="en-IN" sz="2000" b="1" dirty="0">
              <a:latin typeface="Times New Roman" panose="02020603050405020304" pitchFamily="18" charset="0"/>
              <a:cs typeface="Times New Roman" panose="02020603050405020304" pitchFamily="18" charset="0"/>
            </a:endParaRPr>
          </a:p>
          <a:p>
            <a:pPr algn="just"/>
            <a:r>
              <a:rPr lang="en-IN" sz="2000" b="1" u="sng" dirty="0">
                <a:latin typeface="Times New Roman" panose="02020603050405020304" pitchFamily="18" charset="0"/>
                <a:cs typeface="Times New Roman" panose="02020603050405020304" pitchFamily="18" charset="0"/>
              </a:rPr>
              <a:t>It’s Importance</a:t>
            </a:r>
            <a:endParaRPr lang="en-IN" sz="2000" u="sng"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Protects users from online harassment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Helps platforms monitor harmful content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Promotes safer digital communication environments</a:t>
            </a:r>
          </a:p>
          <a:p>
            <a:pPr algn="just">
              <a:lnSpc>
                <a:spcPct val="120000"/>
              </a:lnSpc>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3243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C6D5AC-6C3B-AB8F-5FF6-AD4C92953647}"/>
              </a:ext>
            </a:extLst>
          </p:cNvPr>
          <p:cNvSpPr>
            <a:spLocks noGrp="1"/>
          </p:cNvSpPr>
          <p:nvPr>
            <p:ph type="title"/>
          </p:nvPr>
        </p:nvSpPr>
        <p:spPr>
          <a:xfrm>
            <a:off x="0" y="228601"/>
            <a:ext cx="12192000" cy="1066800"/>
          </a:xfrm>
        </p:spPr>
        <p:txBody>
          <a:bodyPr/>
          <a:lstStyle/>
          <a:p>
            <a:r>
              <a:rPr lang="en-IN" dirty="0"/>
              <a:t> </a:t>
            </a:r>
            <a:r>
              <a:rPr lang="en-IN" sz="4800" dirty="0">
                <a:latin typeface="Times New Roman" panose="02020603050405020304" pitchFamily="18" charset="0"/>
                <a:cs typeface="Times New Roman" panose="02020603050405020304" pitchFamily="18" charset="0"/>
              </a:rPr>
              <a:t>3. </a:t>
            </a:r>
            <a:r>
              <a:rPr lang="en-IN" sz="4800" u="sng" dirty="0">
                <a:latin typeface="Times New Roman" panose="02020603050405020304" pitchFamily="18" charset="0"/>
                <a:cs typeface="Times New Roman" panose="02020603050405020304" pitchFamily="18" charset="0"/>
              </a:rPr>
              <a:t>OBJECTIVES</a:t>
            </a:r>
          </a:p>
        </p:txBody>
      </p:sp>
      <p:sp>
        <p:nvSpPr>
          <p:cNvPr id="5" name="Content Placeholder 4">
            <a:extLst>
              <a:ext uri="{FF2B5EF4-FFF2-40B4-BE49-F238E27FC236}">
                <a16:creationId xmlns:a16="http://schemas.microsoft.com/office/drawing/2014/main" id="{C7EF00E8-49B5-F63C-51F7-0519569C45CA}"/>
              </a:ext>
            </a:extLst>
          </p:cNvPr>
          <p:cNvSpPr>
            <a:spLocks noGrp="1"/>
          </p:cNvSpPr>
          <p:nvPr>
            <p:ph idx="1"/>
          </p:nvPr>
        </p:nvSpPr>
        <p:spPr>
          <a:xfrm>
            <a:off x="152400" y="1295401"/>
            <a:ext cx="11887200" cy="4881562"/>
          </a:xfrm>
        </p:spPr>
        <p:txBody>
          <a:bodyPr>
            <a:noAutofit/>
          </a:bodyPr>
          <a:lstStyle/>
          <a:p>
            <a:pPr marL="0" indent="0">
              <a:buNone/>
            </a:pPr>
            <a:r>
              <a:rPr lang="en-US" sz="2000" b="1" u="sng" dirty="0">
                <a:latin typeface="Times New Roman" panose="02020603050405020304" pitchFamily="18" charset="0"/>
                <a:cs typeface="Times New Roman" panose="02020603050405020304" pitchFamily="18" charset="0"/>
              </a:rPr>
              <a:t>Aim of the Project</a:t>
            </a:r>
          </a:p>
          <a:p>
            <a:pPr algn="just"/>
            <a:r>
              <a:rPr lang="en-US" sz="2000" dirty="0">
                <a:latin typeface="Times New Roman" panose="02020603050405020304" pitchFamily="18" charset="0"/>
                <a:cs typeface="Times New Roman" panose="02020603050405020304" pitchFamily="18" charset="0"/>
              </a:rPr>
              <a:t>The main aim of this project is to develop an cyberbullying detection system capable of analyzing multilingual code-mixed conversations and identifying harmful or abusive content using machine learning and transformer-based language models. </a:t>
            </a:r>
          </a:p>
          <a:p>
            <a:pPr algn="just"/>
            <a:r>
              <a:rPr lang="en-US" sz="2000" dirty="0">
                <a:latin typeface="Times New Roman" panose="02020603050405020304" pitchFamily="18" charset="0"/>
                <a:cs typeface="Times New Roman" panose="02020603050405020304" pitchFamily="18" charset="0"/>
              </a:rPr>
              <a:t>The system evaluates different models independently and compares their performance to determine the most effective model for accurate cyberbullying detection.</a:t>
            </a:r>
          </a:p>
          <a:p>
            <a:pPr marL="0" indent="0">
              <a:buNone/>
            </a:pPr>
            <a:r>
              <a:rPr lang="en-US" sz="2000" b="1" u="sng" dirty="0">
                <a:latin typeface="Times New Roman" panose="02020603050405020304" pitchFamily="18" charset="0"/>
                <a:cs typeface="Times New Roman" panose="02020603050405020304" pitchFamily="18" charset="0"/>
              </a:rPr>
              <a:t>Specific Objectives</a:t>
            </a:r>
          </a:p>
          <a:p>
            <a:pPr algn="just"/>
            <a:r>
              <a:rPr lang="en-US" sz="2000" dirty="0">
                <a:latin typeface="Times New Roman" panose="02020603050405020304" pitchFamily="18" charset="0"/>
                <a:cs typeface="Times New Roman" panose="02020603050405020304" pitchFamily="18" charset="0"/>
              </a:rPr>
              <a:t>To collect and prepare a dataset containing cyberbullying and non-cyberbullying text messages.</a:t>
            </a:r>
          </a:p>
          <a:p>
            <a:pPr algn="just"/>
            <a:r>
              <a:rPr lang="en-US" sz="2000" dirty="0">
                <a:latin typeface="Times New Roman" panose="02020603050405020304" pitchFamily="18" charset="0"/>
                <a:cs typeface="Times New Roman" panose="02020603050405020304" pitchFamily="18" charset="0"/>
              </a:rPr>
              <a:t>To perform data preprocessing techniques such as text cleaning, tokenization, and stop-word removal to prepare the data for analysis.</a:t>
            </a:r>
          </a:p>
          <a:p>
            <a:pPr algn="just"/>
            <a:r>
              <a:rPr lang="en-US" sz="2000" dirty="0">
                <a:latin typeface="Times New Roman" panose="02020603050405020304" pitchFamily="18" charset="0"/>
                <a:cs typeface="Times New Roman" panose="02020603050405020304" pitchFamily="18" charset="0"/>
              </a:rPr>
              <a:t>To perform exploratory data analysis to understand the distribution and characteristics of the dataset.</a:t>
            </a:r>
          </a:p>
          <a:p>
            <a:pPr algn="just"/>
            <a:r>
              <a:rPr lang="en-US" sz="2000" dirty="0">
                <a:latin typeface="Times New Roman" panose="02020603050405020304" pitchFamily="18" charset="0"/>
                <a:cs typeface="Times New Roman" panose="02020603050405020304" pitchFamily="18" charset="0"/>
              </a:rPr>
              <a:t>To extract textual features using techniques such as TF-IDF and tokenizer-based representations.</a:t>
            </a:r>
          </a:p>
          <a:p>
            <a:pPr algn="just"/>
            <a:r>
              <a:rPr lang="en-US" sz="2000" dirty="0">
                <a:latin typeface="Times New Roman" panose="02020603050405020304" pitchFamily="18" charset="0"/>
                <a:cs typeface="Times New Roman" panose="02020603050405020304" pitchFamily="18" charset="0"/>
              </a:rPr>
              <a:t>To train multiple machine learning models such as Logistic Regression, Naïve Bayes, and Support Vector Machine for cyberbullying classification.</a:t>
            </a:r>
          </a:p>
          <a:p>
            <a:pPr marL="0" indent="0">
              <a:buNone/>
            </a:pPr>
            <a:endParaRPr lang="en-IN" sz="2000" b="1"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4A0DCBFC-5FE4-AA75-6EBA-7E092CC9AD5F}"/>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20097A46-7E3D-638B-01DF-C3CB86152F99}"/>
              </a:ext>
            </a:extLst>
          </p:cNvPr>
          <p:cNvSpPr>
            <a:spLocks noGrp="1"/>
          </p:cNvSpPr>
          <p:nvPr>
            <p:ph type="sldNum" sz="quarter" idx="12"/>
          </p:nvPr>
        </p:nvSpPr>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4015036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BC96973-078E-22A8-1FAB-DC57083926D9}"/>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CF5431B2-EB32-9A40-D2B3-D4DFD70B0269}"/>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7" name="TextBox 6">
            <a:extLst>
              <a:ext uri="{FF2B5EF4-FFF2-40B4-BE49-F238E27FC236}">
                <a16:creationId xmlns:a16="http://schemas.microsoft.com/office/drawing/2014/main" id="{B043C62E-1BCE-098F-42C1-3BB65EDC5DB9}"/>
              </a:ext>
            </a:extLst>
          </p:cNvPr>
          <p:cNvSpPr txBox="1"/>
          <p:nvPr/>
        </p:nvSpPr>
        <p:spPr>
          <a:xfrm>
            <a:off x="152401" y="457200"/>
            <a:ext cx="11887200" cy="224676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fine-tune transformer-based models such as XLM-</a:t>
            </a:r>
            <a:r>
              <a:rPr lang="en-US" sz="2000" dirty="0" err="1">
                <a:latin typeface="Times New Roman" panose="02020603050405020304" pitchFamily="18" charset="0"/>
                <a:cs typeface="Times New Roman" panose="02020603050405020304" pitchFamily="18" charset="0"/>
              </a:rPr>
              <a:t>RoBERTa</a:t>
            </a:r>
            <a:r>
              <a:rPr lang="en-US" sz="2000" dirty="0">
                <a:latin typeface="Times New Roman" panose="02020603050405020304" pitchFamily="18" charset="0"/>
                <a:cs typeface="Times New Roman" panose="02020603050405020304" pitchFamily="18" charset="0"/>
              </a:rPr>
              <a:t>, mDeBERTa and MuRIL to capture contextual meaning in multilingual text.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evaluate each model using performance metrics such as accuracy, precision, recall, and F1-score.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compare the performance of all models and identify the best-performing model for cyberbullying detection.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develop a user interface that allows users to input text and receive prediction results from the trained models.</a:t>
            </a:r>
          </a:p>
          <a:p>
            <a:endParaRPr lang="en-IN" sz="2000" dirty="0"/>
          </a:p>
        </p:txBody>
      </p:sp>
    </p:spTree>
    <p:extLst>
      <p:ext uri="{BB962C8B-B14F-4D97-AF65-F5344CB8AC3E}">
        <p14:creationId xmlns:p14="http://schemas.microsoft.com/office/powerpoint/2010/main" val="962505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A07F0-FB8C-FB11-3E5D-71B4852427AF}"/>
              </a:ext>
            </a:extLst>
          </p:cNvPr>
          <p:cNvSpPr>
            <a:spLocks noGrp="1"/>
          </p:cNvSpPr>
          <p:nvPr>
            <p:ph type="title"/>
          </p:nvPr>
        </p:nvSpPr>
        <p:spPr>
          <a:xfrm>
            <a:off x="0" y="136525"/>
            <a:ext cx="12192000" cy="1082675"/>
          </a:xfrm>
        </p:spPr>
        <p:txBody>
          <a:bodyPr>
            <a:normAutofit/>
          </a:bodyPr>
          <a:lstStyle/>
          <a:p>
            <a:r>
              <a:rPr lang="en-IN" sz="4800" dirty="0">
                <a:latin typeface="Times New Roman" panose="02020603050405020304" pitchFamily="18" charset="0"/>
                <a:cs typeface="Times New Roman" panose="02020603050405020304" pitchFamily="18" charset="0"/>
              </a:rPr>
              <a:t> 4. </a:t>
            </a:r>
            <a:r>
              <a:rPr lang="en-IN" sz="4800" u="sng"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765A1169-70DA-3693-FB04-A1F37012A3A0}"/>
              </a:ext>
            </a:extLst>
          </p:cNvPr>
          <p:cNvSpPr>
            <a:spLocks noGrp="1"/>
          </p:cNvSpPr>
          <p:nvPr>
            <p:ph idx="1"/>
          </p:nvPr>
        </p:nvSpPr>
        <p:spPr>
          <a:xfrm>
            <a:off x="152400" y="1221418"/>
            <a:ext cx="11887200" cy="5026982"/>
          </a:xfrm>
        </p:spPr>
        <p:txBody>
          <a:bodyPr>
            <a:normAutofit/>
          </a:bodyPr>
          <a:lstStyle/>
          <a:p>
            <a:pPr algn="just"/>
            <a:r>
              <a:rPr lang="en-US" sz="2000" dirty="0">
                <a:latin typeface="Times New Roman" panose="02020603050405020304" pitchFamily="18" charset="0"/>
                <a:cs typeface="Times New Roman" panose="02020603050405020304" pitchFamily="18" charset="0"/>
              </a:rPr>
              <a:t>In existing cyberbullying detection systems, harmful or abusive content in online platforms is typically identified using traditional text classification techniques. </a:t>
            </a:r>
          </a:p>
          <a:p>
            <a:pPr algn="just"/>
            <a:r>
              <a:rPr lang="en-US" sz="2000" dirty="0">
                <a:latin typeface="Times New Roman" panose="02020603050405020304" pitchFamily="18" charset="0"/>
                <a:cs typeface="Times New Roman" panose="02020603050405020304" pitchFamily="18" charset="0"/>
              </a:rPr>
              <a:t>Many systems rely on machine learning algorithms such as Logistic Regression, Naïve Bayes, and Support Vector Machines to classify messages as cyberbullying or non-cyberbullying.</a:t>
            </a:r>
          </a:p>
          <a:p>
            <a:pPr algn="just"/>
            <a:r>
              <a:rPr lang="en-US" sz="2000" dirty="0">
                <a:latin typeface="Times New Roman" panose="02020603050405020304" pitchFamily="18" charset="0"/>
                <a:cs typeface="Times New Roman" panose="02020603050405020304" pitchFamily="18" charset="0"/>
              </a:rPr>
              <a:t>These systems usually process text using simple feature extraction methods such as Bag-of-Words or TF-IDF representations. </a:t>
            </a:r>
          </a:p>
          <a:p>
            <a:pPr algn="just"/>
            <a:r>
              <a:rPr lang="en-US" sz="2000" dirty="0">
                <a:latin typeface="Times New Roman" panose="02020603050405020304" pitchFamily="18" charset="0"/>
                <a:cs typeface="Times New Roman" panose="02020603050405020304" pitchFamily="18" charset="0"/>
              </a:rPr>
              <a:t>The models are trained on labeled datasets to identify patterns related to abusive or offensive language in online messages. Such systems are commonly used for monitoring user-generated content on social media platforms</a:t>
            </a:r>
            <a:r>
              <a:rPr lang="en-IN"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However, most existing systems face difficulties when dealing with multilingual and code-mixed text commonly used in online conversations. </a:t>
            </a:r>
          </a:p>
          <a:p>
            <a:pPr algn="just"/>
            <a:r>
              <a:rPr lang="en-US" sz="2000" dirty="0">
                <a:latin typeface="Times New Roman" panose="02020603050405020304" pitchFamily="18" charset="0"/>
                <a:cs typeface="Times New Roman" panose="02020603050405020304" pitchFamily="18" charset="0"/>
              </a:rPr>
              <a:t>Users often mix multiple languages within a single sentence and use informal words, abbreviations, and slang, which reduces the effectiveness of traditional classification methods. </a:t>
            </a:r>
          </a:p>
          <a:p>
            <a:pPr algn="just"/>
            <a:r>
              <a:rPr lang="en-US" sz="2000" dirty="0">
                <a:latin typeface="Times New Roman" panose="02020603050405020304" pitchFamily="18" charset="0"/>
                <a:cs typeface="Times New Roman" panose="02020603050405020304" pitchFamily="18" charset="0"/>
              </a:rPr>
              <a:t>As a result, existing systems may fail to capture the contextual meaning of the text and may produce inaccurate predictions in real-world social media environments.</a:t>
            </a:r>
          </a:p>
          <a:p>
            <a:endParaRPr lang="en-US" sz="2000" dirty="0"/>
          </a:p>
          <a:p>
            <a:pPr algn="just"/>
            <a:endParaRPr lang="en-US"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1B2E65F-5096-C3F0-F157-5FC30FB65C05}"/>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12587217-10B7-2F99-E0B5-C60C9406B12E}"/>
              </a:ext>
            </a:extLst>
          </p:cNvPr>
          <p:cNvSpPr>
            <a:spLocks noGrp="1"/>
          </p:cNvSpPr>
          <p:nvPr>
            <p:ph type="sldNum" sz="quarter" idx="12"/>
          </p:nvPr>
        </p:nvSpPr>
        <p:spPr/>
        <p:txBody>
          <a:bodyPr/>
          <a:lstStyle/>
          <a:p>
            <a:fld id="{330EA680-D336-4FF7-8B7A-9848BB0A1C32}" type="slidenum">
              <a:rPr lang="en-US" smtClean="0"/>
              <a:t>8</a:t>
            </a:fld>
            <a:endParaRPr lang="en-US"/>
          </a:p>
        </p:txBody>
      </p:sp>
    </p:spTree>
    <p:extLst>
      <p:ext uri="{BB962C8B-B14F-4D97-AF65-F5344CB8AC3E}">
        <p14:creationId xmlns:p14="http://schemas.microsoft.com/office/powerpoint/2010/main" val="15178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9291CCA-3097-F41F-BEF7-F7D516974770}"/>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3449FC19-EEAF-BE1F-95EE-451D5BF9439D}"/>
              </a:ext>
            </a:extLst>
          </p:cNvPr>
          <p:cNvSpPr>
            <a:spLocks noGrp="1"/>
          </p:cNvSpPr>
          <p:nvPr>
            <p:ph type="sldNum" sz="quarter" idx="12"/>
          </p:nvPr>
        </p:nvSpPr>
        <p:spPr/>
        <p:txBody>
          <a:bodyPr/>
          <a:lstStyle/>
          <a:p>
            <a:fld id="{330EA680-D336-4FF7-8B7A-9848BB0A1C32}" type="slidenum">
              <a:rPr lang="en-US" smtClean="0"/>
              <a:t>9</a:t>
            </a:fld>
            <a:endParaRPr lang="en-US"/>
          </a:p>
        </p:txBody>
      </p:sp>
      <p:sp>
        <p:nvSpPr>
          <p:cNvPr id="6" name="TextBox 5">
            <a:extLst>
              <a:ext uri="{FF2B5EF4-FFF2-40B4-BE49-F238E27FC236}">
                <a16:creationId xmlns:a16="http://schemas.microsoft.com/office/drawing/2014/main" id="{DCFD3BEA-EEA7-9C1A-EAD7-EAAB0CADA0C8}"/>
              </a:ext>
            </a:extLst>
          </p:cNvPr>
          <p:cNvSpPr txBox="1"/>
          <p:nvPr/>
        </p:nvSpPr>
        <p:spPr>
          <a:xfrm>
            <a:off x="190500" y="228600"/>
            <a:ext cx="11811000" cy="6001643"/>
          </a:xfrm>
          <a:prstGeom prst="rect">
            <a:avLst/>
          </a:prstGeom>
          <a:noFill/>
        </p:spPr>
        <p:txBody>
          <a:bodyPr wrap="square" rtlCol="0">
            <a:spAutoFit/>
          </a:bodyPr>
          <a:lstStyle/>
          <a:p>
            <a:pPr algn="just"/>
            <a:r>
              <a:rPr lang="en-US" sz="2400" b="1" u="sng" dirty="0">
                <a:latin typeface="Times New Roman" panose="02020603050405020304" pitchFamily="18" charset="0"/>
                <a:cs typeface="Times New Roman" panose="02020603050405020304" pitchFamily="18" charset="0"/>
              </a:rPr>
              <a:t>Limitations of Existing System</a:t>
            </a:r>
            <a:r>
              <a:rPr lang="en-US" sz="2000" b="1"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endParaRPr lang="en-US" sz="2000" b="1" dirty="0"/>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existing systems are designed for single-language text, making them less effective for multilingual or code-mixed conversations.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models rely mainly on keyword-based or statistical features, which often fail to capture the true contextual meaning of sentences.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Many systems cannot properly interpret slang, abbreviations, emojis, and informal expressions commonly used in social media communication.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Cyberbullying messages are sometimes context-dependent, and simple models cannot understand sarcasm, irony, or hidden aggression.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approaches may produce high false positive or false negative predictions, reducing the reliability of the system.</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Many existing models are trained on limited or domain-specific datasets, which affects their performance when applied to real-world data.</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 systems lack the ability to analyze semantic relationships between words, which is important for understanding harmful intent.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models do not effectively capture long-range dependencies and contextual information in text.</a:t>
            </a:r>
          </a:p>
          <a:p>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1871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8B9AC-200C-D3D8-E652-68045AAA9E2F}"/>
              </a:ext>
            </a:extLst>
          </p:cNvPr>
          <p:cNvSpPr>
            <a:spLocks noGrp="1"/>
          </p:cNvSpPr>
          <p:nvPr>
            <p:ph type="title"/>
          </p:nvPr>
        </p:nvSpPr>
        <p:spPr>
          <a:xfrm>
            <a:off x="0" y="136525"/>
            <a:ext cx="12192000" cy="1082675"/>
          </a:xfrm>
        </p:spPr>
        <p:txBody>
          <a:bodyPr>
            <a:normAutofit/>
          </a:bodyPr>
          <a:lstStyle/>
          <a:p>
            <a:r>
              <a:rPr lang="en-IN" sz="4800" dirty="0">
                <a:latin typeface="Times New Roman" panose="02020603050405020304" pitchFamily="18" charset="0"/>
                <a:cs typeface="Times New Roman" panose="02020603050405020304" pitchFamily="18" charset="0"/>
              </a:rPr>
              <a:t> 5. </a:t>
            </a:r>
            <a:r>
              <a:rPr lang="en-IN" sz="4800" u="sng"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23BBB424-030A-E26D-327C-005745D4FCD0}"/>
              </a:ext>
            </a:extLst>
          </p:cNvPr>
          <p:cNvSpPr>
            <a:spLocks noGrp="1"/>
          </p:cNvSpPr>
          <p:nvPr>
            <p:ph idx="1"/>
          </p:nvPr>
        </p:nvSpPr>
        <p:spPr>
          <a:xfrm>
            <a:off x="152400" y="1219200"/>
            <a:ext cx="11887200" cy="5137149"/>
          </a:xfrm>
        </p:spPr>
        <p:txBody>
          <a:bodyPr>
            <a:normAutofit fontScale="92500"/>
          </a:bodyPr>
          <a:lstStyle/>
          <a:p>
            <a:pPr algn="just"/>
            <a:r>
              <a:rPr lang="en-US" sz="2200" dirty="0">
                <a:latin typeface="Times New Roman" panose="02020603050405020304" pitchFamily="18" charset="0"/>
                <a:cs typeface="Times New Roman" panose="02020603050405020304" pitchFamily="18" charset="0"/>
              </a:rPr>
              <a:t>To overcome the limitations of existing cyberbullying detection systems, this project proposes CrossTongueGuard, a cyberbullying detection framework designed to analyze multilingual code-mixed conversations. </a:t>
            </a:r>
          </a:p>
          <a:p>
            <a:pPr algn="just"/>
            <a:r>
              <a:rPr lang="en-US" sz="2200" dirty="0">
                <a:latin typeface="Times New Roman" panose="02020603050405020304" pitchFamily="18" charset="0"/>
                <a:cs typeface="Times New Roman" panose="02020603050405020304" pitchFamily="18" charset="0"/>
              </a:rPr>
              <a:t>The system uses both traditional machine learning algorithms and advanced transformer-based language models to classify text messages as cyberbullying or non-cyberbullying.</a:t>
            </a:r>
          </a:p>
          <a:p>
            <a:pPr algn="just"/>
            <a:r>
              <a:rPr lang="en-US" sz="2200" dirty="0">
                <a:latin typeface="Times New Roman" panose="02020603050405020304" pitchFamily="18" charset="0"/>
                <a:cs typeface="Times New Roman" panose="02020603050405020304" pitchFamily="18" charset="0"/>
              </a:rPr>
              <a:t>The proposed system first performs data preprocessing to clean and normalize the text data by removing noise such as punctuation, special characters, and stop words. </a:t>
            </a:r>
          </a:p>
          <a:p>
            <a:pPr algn="just"/>
            <a:r>
              <a:rPr lang="en-US" sz="2200" dirty="0">
                <a:latin typeface="Times New Roman" panose="02020603050405020304" pitchFamily="18" charset="0"/>
                <a:cs typeface="Times New Roman" panose="02020603050405020304" pitchFamily="18" charset="0"/>
              </a:rPr>
              <a:t>After preprocessing, the text is converted into numerical representations using techniques such as TF-IDF feature extraction for machine learning models and tokenization with embeddings for transformer models.</a:t>
            </a:r>
          </a:p>
          <a:p>
            <a:pPr algn="just"/>
            <a:r>
              <a:rPr lang="en-US" sz="2200" dirty="0">
                <a:latin typeface="Times New Roman" panose="02020603050405020304" pitchFamily="18" charset="0"/>
                <a:cs typeface="Times New Roman" panose="02020603050405020304" pitchFamily="18" charset="0"/>
              </a:rPr>
              <a:t>Multiple machine learning algorithms, including Logistic Regression, Naïve Bayes, and Support Vector Machine, are trained independently on the dataset. </a:t>
            </a:r>
          </a:p>
          <a:p>
            <a:pPr algn="just"/>
            <a:r>
              <a:rPr lang="en-US" sz="2200" dirty="0">
                <a:latin typeface="Times New Roman" panose="02020603050405020304" pitchFamily="18" charset="0"/>
                <a:cs typeface="Times New Roman" panose="02020603050405020304" pitchFamily="18" charset="0"/>
              </a:rPr>
              <a:t>In addition, a transformer-based model such as XLM-</a:t>
            </a:r>
            <a:r>
              <a:rPr lang="en-US" sz="2200" dirty="0" err="1">
                <a:latin typeface="Times New Roman" panose="02020603050405020304" pitchFamily="18" charset="0"/>
                <a:cs typeface="Times New Roman" panose="02020603050405020304" pitchFamily="18" charset="0"/>
              </a:rPr>
              <a:t>RoBERTa</a:t>
            </a:r>
            <a:r>
              <a:rPr lang="en-US" sz="2200" dirty="0">
                <a:latin typeface="Times New Roman" panose="02020603050405020304" pitchFamily="18" charset="0"/>
                <a:cs typeface="Times New Roman" panose="02020603050405020304" pitchFamily="18" charset="0"/>
              </a:rPr>
              <a:t> is fine-tuned to capture contextual and semantic information from multilingual text. </a:t>
            </a:r>
          </a:p>
          <a:p>
            <a:pPr algn="just"/>
            <a:r>
              <a:rPr lang="en-US" sz="2200" dirty="0">
                <a:latin typeface="Times New Roman" panose="02020603050405020304" pitchFamily="18" charset="0"/>
                <a:cs typeface="Times New Roman" panose="02020603050405020304" pitchFamily="18" charset="0"/>
              </a:rPr>
              <a:t>Each model is evaluated separately using performance metrics such as accuracy, precision, recall, and F1-score, and the results are compared to determine the best-performing model.</a:t>
            </a:r>
          </a:p>
          <a:p>
            <a:endParaRPr lang="en-IN" dirty="0"/>
          </a:p>
        </p:txBody>
      </p:sp>
      <p:sp>
        <p:nvSpPr>
          <p:cNvPr id="4" name="Footer Placeholder 3">
            <a:extLst>
              <a:ext uri="{FF2B5EF4-FFF2-40B4-BE49-F238E27FC236}">
                <a16:creationId xmlns:a16="http://schemas.microsoft.com/office/drawing/2014/main" id="{FF0A6978-E2B2-14B5-0A9A-552E7BDDB154}"/>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1D65A37A-CCE6-191A-91DA-2A4B30428BD0}"/>
              </a:ext>
            </a:extLst>
          </p:cNvPr>
          <p:cNvSpPr>
            <a:spLocks noGrp="1"/>
          </p:cNvSpPr>
          <p:nvPr>
            <p:ph type="sldNum" sz="quarter" idx="12"/>
          </p:nvPr>
        </p:nvSpPr>
        <p:spPr/>
        <p:txBody>
          <a:bodyPr/>
          <a:lstStyle/>
          <a:p>
            <a:fld id="{330EA680-D336-4FF7-8B7A-9848BB0A1C32}" type="slidenum">
              <a:rPr lang="en-US" smtClean="0"/>
              <a:t>10</a:t>
            </a:fld>
            <a:endParaRPr lang="en-US"/>
          </a:p>
        </p:txBody>
      </p:sp>
    </p:spTree>
    <p:extLst>
      <p:ext uri="{BB962C8B-B14F-4D97-AF65-F5344CB8AC3E}">
        <p14:creationId xmlns:p14="http://schemas.microsoft.com/office/powerpoint/2010/main" val="3315441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6CF0F1E-EDF5-CB47-9C22-D567770FD040}"/>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844DC091-74F4-D77B-B89B-EFDCA3D9F440}"/>
              </a:ext>
            </a:extLst>
          </p:cNvPr>
          <p:cNvSpPr>
            <a:spLocks noGrp="1"/>
          </p:cNvSpPr>
          <p:nvPr>
            <p:ph type="sldNum" sz="quarter" idx="12"/>
          </p:nvPr>
        </p:nvSpPr>
        <p:spPr/>
        <p:txBody>
          <a:bodyPr/>
          <a:lstStyle/>
          <a:p>
            <a:fld id="{330EA680-D336-4FF7-8B7A-9848BB0A1C32}" type="slidenum">
              <a:rPr lang="en-US" smtClean="0"/>
              <a:t>11</a:t>
            </a:fld>
            <a:endParaRPr lang="en-US"/>
          </a:p>
        </p:txBody>
      </p:sp>
      <p:sp>
        <p:nvSpPr>
          <p:cNvPr id="6" name="TextBox 5">
            <a:extLst>
              <a:ext uri="{FF2B5EF4-FFF2-40B4-BE49-F238E27FC236}">
                <a16:creationId xmlns:a16="http://schemas.microsoft.com/office/drawing/2014/main" id="{915E1D87-BFB0-284B-36C8-EC925AA2AB99}"/>
              </a:ext>
            </a:extLst>
          </p:cNvPr>
          <p:cNvSpPr txBox="1"/>
          <p:nvPr/>
        </p:nvSpPr>
        <p:spPr>
          <a:xfrm>
            <a:off x="152400" y="304800"/>
            <a:ext cx="11887200" cy="452431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Advantages over Existing System</a:t>
            </a:r>
          </a:p>
          <a:p>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Capable of handling multilingual and code-mixed text data.</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Uses advanced transformer models that understand contextual meaning better than traditional models.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higher classification accuracy and better prediction performance.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Evaluates multiple algorithms to identify the most effective model for cyberbullying detection.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the ability to detect subtle or context-based abusive language.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Reduces false predictions compared to traditional keyword-based systems.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Can be integrated with online platforms to automatically monitor harmful messages.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Provides comprehensive model evaluation, helping identify the best-performing algorithm.</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Can be integrated into social media platforms, chat applications, and online forums for automatic monitoring.</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Helps create a safer and healthier online communication environment.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is scalable and adaptable for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large volumes of text data.</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8628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113FB2-1096-264C-22BD-3CAE72B9FFC8}"/>
              </a:ext>
            </a:extLst>
          </p:cNvPr>
          <p:cNvSpPr>
            <a:spLocks noGrp="1"/>
          </p:cNvSpPr>
          <p:nvPr>
            <p:ph type="title"/>
          </p:nvPr>
        </p:nvSpPr>
        <p:spPr>
          <a:xfrm>
            <a:off x="0" y="136525"/>
            <a:ext cx="12192000" cy="930275"/>
          </a:xfrm>
        </p:spPr>
        <p:txBody>
          <a:bodyPr>
            <a:normAutofit/>
          </a:bodyPr>
          <a:lstStyle/>
          <a:p>
            <a:r>
              <a:rPr lang="en-IN" sz="4800" dirty="0">
                <a:latin typeface="Times New Roman" panose="02020603050405020304" pitchFamily="18" charset="0"/>
                <a:cs typeface="Times New Roman" panose="02020603050405020304" pitchFamily="18" charset="0"/>
              </a:rPr>
              <a:t> 6. </a:t>
            </a:r>
            <a:r>
              <a:rPr lang="en-IN" sz="4800" u="sng" dirty="0">
                <a:latin typeface="Times New Roman" panose="02020603050405020304" pitchFamily="18" charset="0"/>
                <a:cs typeface="Times New Roman" panose="02020603050405020304" pitchFamily="18" charset="0"/>
              </a:rPr>
              <a:t>SCOPE OF THE PROJECT</a:t>
            </a:r>
          </a:p>
        </p:txBody>
      </p:sp>
      <p:sp>
        <p:nvSpPr>
          <p:cNvPr id="5" name="Content Placeholder 4">
            <a:extLst>
              <a:ext uri="{FF2B5EF4-FFF2-40B4-BE49-F238E27FC236}">
                <a16:creationId xmlns:a16="http://schemas.microsoft.com/office/drawing/2014/main" id="{468A791E-4E4D-7C0F-3927-813720358C7B}"/>
              </a:ext>
            </a:extLst>
          </p:cNvPr>
          <p:cNvSpPr>
            <a:spLocks noGrp="1"/>
          </p:cNvSpPr>
          <p:nvPr>
            <p:ph idx="1"/>
          </p:nvPr>
        </p:nvSpPr>
        <p:spPr>
          <a:xfrm>
            <a:off x="152400" y="1143000"/>
            <a:ext cx="11887200" cy="5105400"/>
          </a:xfrm>
        </p:spPr>
        <p:txBody>
          <a:bodyPr>
            <a:normAutofit/>
          </a:bodyPr>
          <a:lstStyle/>
          <a:p>
            <a:pPr algn="just"/>
            <a:r>
              <a:rPr lang="en-US" sz="2000" dirty="0">
                <a:latin typeface="Times New Roman" panose="02020603050405020304" pitchFamily="18" charset="0"/>
                <a:cs typeface="Times New Roman" panose="02020603050405020304" pitchFamily="18" charset="0"/>
              </a:rPr>
              <a:t>The proposed cyberbullying detection system can be applied in various online platforms to automatically monitor and identify harmful messages. </a:t>
            </a:r>
          </a:p>
          <a:p>
            <a:pPr algn="just"/>
            <a:r>
              <a:rPr lang="en-US" sz="2000" dirty="0">
                <a:latin typeface="Times New Roman" panose="02020603050405020304" pitchFamily="18" charset="0"/>
                <a:cs typeface="Times New Roman" panose="02020603050405020304" pitchFamily="18" charset="0"/>
              </a:rPr>
              <a:t>It can be integrated into social media platforms, online forums, and chat applications to detect abusive or offensive content in user-generated messages. </a:t>
            </a:r>
          </a:p>
          <a:p>
            <a:pPr algn="just"/>
            <a:r>
              <a:rPr lang="en-US" sz="2000" dirty="0">
                <a:latin typeface="Times New Roman" panose="02020603050405020304" pitchFamily="18" charset="0"/>
                <a:cs typeface="Times New Roman" panose="02020603050405020304" pitchFamily="18" charset="0"/>
              </a:rPr>
              <a:t>The system can assist platform moderators in filtering harmful content and maintaining a safe communication environment.</a:t>
            </a:r>
          </a:p>
          <a:p>
            <a:pPr algn="just"/>
            <a:r>
              <a:rPr lang="en-US" sz="2000" dirty="0">
                <a:latin typeface="Times New Roman" panose="02020603050405020304" pitchFamily="18" charset="0"/>
                <a:cs typeface="Times New Roman" panose="02020603050405020304" pitchFamily="18" charset="0"/>
              </a:rPr>
              <a:t>The project can also be useful in educational institutions and online learning platforms where students interact through digital communication tools. </a:t>
            </a:r>
          </a:p>
          <a:p>
            <a:pPr algn="just"/>
            <a:r>
              <a:rPr lang="en-US" sz="2000" dirty="0">
                <a:latin typeface="Times New Roman" panose="02020603050405020304" pitchFamily="18" charset="0"/>
                <a:cs typeface="Times New Roman" panose="02020603050405020304" pitchFamily="18" charset="0"/>
              </a:rPr>
              <a:t>By detecting cyberbullying behavior, the system can help prevent harassment and protect users from harmful online interactions. </a:t>
            </a:r>
          </a:p>
          <a:p>
            <a:pPr algn="just"/>
            <a:r>
              <a:rPr lang="en-US" sz="2000" dirty="0">
                <a:latin typeface="Times New Roman" panose="02020603050405020304" pitchFamily="18" charset="0"/>
                <a:cs typeface="Times New Roman" panose="02020603050405020304" pitchFamily="18" charset="0"/>
              </a:rPr>
              <a:t>Additionally, the framework can be adapted for content moderation systems, community management tools, and digital safety monitoring systems.</a:t>
            </a:r>
          </a:p>
          <a:p>
            <a:endParaRPr lang="en-IN" dirty="0"/>
          </a:p>
        </p:txBody>
      </p:sp>
      <p:sp>
        <p:nvSpPr>
          <p:cNvPr id="2" name="Footer Placeholder 1">
            <a:extLst>
              <a:ext uri="{FF2B5EF4-FFF2-40B4-BE49-F238E27FC236}">
                <a16:creationId xmlns:a16="http://schemas.microsoft.com/office/drawing/2014/main" id="{C724732A-5087-96DC-16B2-C8D594A8A179}"/>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CBA31FE4-464C-E51C-39FB-AA0DA5B31487}"/>
              </a:ext>
            </a:extLst>
          </p:cNvPr>
          <p:cNvSpPr>
            <a:spLocks noGrp="1"/>
          </p:cNvSpPr>
          <p:nvPr>
            <p:ph type="sldNum" sz="quarter" idx="12"/>
          </p:nvPr>
        </p:nvSpPr>
        <p:spPr/>
        <p:txBody>
          <a:bodyPr/>
          <a:lstStyle/>
          <a:p>
            <a:fld id="{330EA680-D336-4FF7-8B7A-9848BB0A1C32}" type="slidenum">
              <a:rPr lang="en-US" smtClean="0"/>
              <a:t>12</a:t>
            </a:fld>
            <a:endParaRPr lang="en-US"/>
          </a:p>
        </p:txBody>
      </p:sp>
    </p:spTree>
    <p:extLst>
      <p:ext uri="{BB962C8B-B14F-4D97-AF65-F5344CB8AC3E}">
        <p14:creationId xmlns:p14="http://schemas.microsoft.com/office/powerpoint/2010/main" val="2308236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645FE76-28EB-A1D0-2774-811157A545A0}"/>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E5B116C2-3E51-7908-1C31-44A627BA6CD7}"/>
              </a:ext>
            </a:extLst>
          </p:cNvPr>
          <p:cNvSpPr>
            <a:spLocks noGrp="1"/>
          </p:cNvSpPr>
          <p:nvPr>
            <p:ph type="sldNum" sz="quarter" idx="12"/>
          </p:nvPr>
        </p:nvSpPr>
        <p:spPr/>
        <p:txBody>
          <a:bodyPr/>
          <a:lstStyle/>
          <a:p>
            <a:fld id="{330EA680-D336-4FF7-8B7A-9848BB0A1C32}" type="slidenum">
              <a:rPr lang="en-US" smtClean="0"/>
              <a:t>13</a:t>
            </a:fld>
            <a:endParaRPr lang="en-US"/>
          </a:p>
        </p:txBody>
      </p:sp>
      <p:sp>
        <p:nvSpPr>
          <p:cNvPr id="6" name="TextBox 5">
            <a:extLst>
              <a:ext uri="{FF2B5EF4-FFF2-40B4-BE49-F238E27FC236}">
                <a16:creationId xmlns:a16="http://schemas.microsoft.com/office/drawing/2014/main" id="{D8D1D6EA-3E8C-C85B-52B7-F2584EEACD91}"/>
              </a:ext>
            </a:extLst>
          </p:cNvPr>
          <p:cNvSpPr txBox="1"/>
          <p:nvPr/>
        </p:nvSpPr>
        <p:spPr>
          <a:xfrm>
            <a:off x="152400" y="136525"/>
            <a:ext cx="11887200" cy="3477875"/>
          </a:xfrm>
          <a:prstGeom prst="rect">
            <a:avLst/>
          </a:prstGeom>
          <a:noFill/>
        </p:spPr>
        <p:txBody>
          <a:bodyPr wrap="square" rtlCol="0">
            <a:spAutoFit/>
          </a:bodyPr>
          <a:lstStyle/>
          <a:p>
            <a:pPr algn="just"/>
            <a:r>
              <a:rPr lang="en-IN" sz="2400" b="1" u="sng" dirty="0">
                <a:latin typeface="Times New Roman" panose="02020603050405020304" pitchFamily="18" charset="0"/>
                <a:cs typeface="Times New Roman" panose="02020603050405020304" pitchFamily="18" charset="0"/>
              </a:rPr>
              <a:t>Boundaries of the Work</a:t>
            </a:r>
          </a:p>
          <a:p>
            <a:endParaRPr lang="en-IN" dirty="0"/>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focuses mainly on text-based cyberbullying detection and doesn’t analyses images, videos, or audio content.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performance of the model depends upon the quality and size of the training dataset used.</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may face challenges in detecting </a:t>
            </a:r>
            <a:r>
              <a:rPr lang="en-IN" sz="2000" dirty="0" err="1">
                <a:latin typeface="Times New Roman" panose="02020603050405020304" pitchFamily="18" charset="0"/>
                <a:cs typeface="Times New Roman" panose="02020603050405020304" pitchFamily="18" charset="0"/>
              </a:rPr>
              <a:t>sarcasm,irony</a:t>
            </a:r>
            <a:r>
              <a:rPr lang="en-IN" sz="2000" dirty="0">
                <a:latin typeface="Times New Roman" panose="02020603050405020304" pitchFamily="18" charset="0"/>
                <a:cs typeface="Times New Roman" panose="02020603050405020304" pitchFamily="18" charset="0"/>
              </a:rPr>
              <a:t>, or highly context-dependent messages.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current system is designed as a prototype system and may require further optimization for large scale real-world deployment.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analyses individual messages and may not fully consider long conversation history or user behaviour patterns</a:t>
            </a:r>
          </a:p>
          <a:p>
            <a:endParaRPr lang="en-IN" dirty="0"/>
          </a:p>
        </p:txBody>
      </p:sp>
    </p:spTree>
    <p:extLst>
      <p:ext uri="{BB962C8B-B14F-4D97-AF65-F5344CB8AC3E}">
        <p14:creationId xmlns:p14="http://schemas.microsoft.com/office/powerpoint/2010/main" val="3461195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CEDD8A-0B0E-D827-A174-919012BDC2EC}"/>
              </a:ext>
            </a:extLst>
          </p:cNvPr>
          <p:cNvSpPr>
            <a:spLocks noGrp="1"/>
          </p:cNvSpPr>
          <p:nvPr>
            <p:ph type="title"/>
          </p:nvPr>
        </p:nvSpPr>
        <p:spPr>
          <a:xfrm>
            <a:off x="0" y="136525"/>
            <a:ext cx="12192000" cy="930275"/>
          </a:xfrm>
        </p:spPr>
        <p:txBody>
          <a:bodyPr>
            <a:normAutofit/>
          </a:bodyPr>
          <a:lstStyle/>
          <a:p>
            <a:r>
              <a:rPr lang="en-IN" sz="4800" dirty="0">
                <a:latin typeface="Times New Roman" panose="02020603050405020304" pitchFamily="18" charset="0"/>
                <a:cs typeface="Times New Roman" panose="02020603050405020304" pitchFamily="18" charset="0"/>
              </a:rPr>
              <a:t> 7. </a:t>
            </a:r>
            <a:r>
              <a:rPr lang="en-IN" sz="4800" u="sng" dirty="0">
                <a:latin typeface="Times New Roman" panose="02020603050405020304" pitchFamily="18" charset="0"/>
                <a:cs typeface="Times New Roman" panose="02020603050405020304" pitchFamily="18" charset="0"/>
              </a:rPr>
              <a:t>LITERATURE SURVEY</a:t>
            </a:r>
          </a:p>
        </p:txBody>
      </p:sp>
      <p:sp>
        <p:nvSpPr>
          <p:cNvPr id="5" name="Content Placeholder 4">
            <a:extLst>
              <a:ext uri="{FF2B5EF4-FFF2-40B4-BE49-F238E27FC236}">
                <a16:creationId xmlns:a16="http://schemas.microsoft.com/office/drawing/2014/main" id="{02B67A39-A2EE-3C29-8B1D-221187636034}"/>
              </a:ext>
            </a:extLst>
          </p:cNvPr>
          <p:cNvSpPr>
            <a:spLocks noGrp="1"/>
          </p:cNvSpPr>
          <p:nvPr>
            <p:ph idx="1"/>
          </p:nvPr>
        </p:nvSpPr>
        <p:spPr>
          <a:xfrm>
            <a:off x="114300" y="1322387"/>
            <a:ext cx="11963400" cy="4926013"/>
          </a:xfrm>
        </p:spPr>
        <p:txBody>
          <a:bodyPr>
            <a:normAutofit/>
          </a:bodyPr>
          <a:lstStyle/>
          <a:p>
            <a:pPr algn="just"/>
            <a:r>
              <a:rPr lang="en-US" sz="2000" dirty="0">
                <a:latin typeface="Times New Roman" panose="02020603050405020304" pitchFamily="18" charset="0"/>
                <a:cs typeface="Times New Roman" panose="02020603050405020304" pitchFamily="18" charset="0"/>
              </a:rPr>
              <a:t>Several research studies have explored the problem of cyberbullying detection in online communication platforms using machine learning and deep learning techniques. </a:t>
            </a:r>
          </a:p>
          <a:p>
            <a:pPr algn="just"/>
            <a:r>
              <a:rPr lang="en-US" sz="2000" dirty="0">
                <a:latin typeface="Times New Roman" panose="02020603050405020304" pitchFamily="18" charset="0"/>
                <a:cs typeface="Times New Roman" panose="02020603050405020304" pitchFamily="18" charset="0"/>
              </a:rPr>
              <a:t>Early research mainly focused on traditional machine learning approaches that classify text messages into bullying and non-bullying categories based on statistical text features. </a:t>
            </a:r>
          </a:p>
          <a:p>
            <a:pPr algn="just"/>
            <a:r>
              <a:rPr lang="en-US" sz="2000" dirty="0">
                <a:latin typeface="Times New Roman" panose="02020603050405020304" pitchFamily="18" charset="0"/>
                <a:cs typeface="Times New Roman" panose="02020603050405020304" pitchFamily="18" charset="0"/>
              </a:rPr>
              <a:t>These approaches used feature extraction techniques such as Bag-of-Words and TF-IDF, along with classification algorithms like Naïve Bayes, Logistic Regression, and Support Vector Machines (SVM). </a:t>
            </a:r>
          </a:p>
          <a:p>
            <a:pPr algn="just"/>
            <a:r>
              <a:rPr lang="en-US" sz="2000" dirty="0">
                <a:latin typeface="Times New Roman" panose="02020603050405020304" pitchFamily="18" charset="0"/>
                <a:cs typeface="Times New Roman" panose="02020603050405020304" pitchFamily="18" charset="0"/>
              </a:rPr>
              <a:t>Although these models provided reasonable performance, they were limited in understanding contextual meaning and often struggled with complex linguistic patterns found in social media text.</a:t>
            </a:r>
          </a:p>
          <a:p>
            <a:pPr algn="just"/>
            <a:r>
              <a:rPr lang="en-US" sz="2000" dirty="0">
                <a:latin typeface="Times New Roman" panose="02020603050405020304" pitchFamily="18" charset="0"/>
                <a:cs typeface="Times New Roman" panose="02020603050405020304" pitchFamily="18" charset="0"/>
              </a:rPr>
              <a:t>With the advancement of deep learning techniques, researchers started using neural network-based models such as Convolutional Neural Networks (CNN) and Long Short-Term Memory (LSTM) networks to improve cyberbullying detection. </a:t>
            </a:r>
          </a:p>
          <a:p>
            <a:pPr algn="just"/>
            <a:r>
              <a:rPr lang="en-US" sz="2000" dirty="0">
                <a:latin typeface="Times New Roman" panose="02020603050405020304" pitchFamily="18" charset="0"/>
                <a:cs typeface="Times New Roman" panose="02020603050405020304" pitchFamily="18" charset="0"/>
              </a:rPr>
              <a:t>These models helped capture sequential patterns and contextual relationships within sentences. However, these approaches still faced challenges in handling multilingual text and informal language commonly used in online conversations.</a:t>
            </a: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514F9392-EB18-2197-D0F8-A8E0C64556F2}"/>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49B5DDE5-472E-BDB4-E489-0EE5A5A7ADB3}"/>
              </a:ext>
            </a:extLst>
          </p:cNvPr>
          <p:cNvSpPr>
            <a:spLocks noGrp="1"/>
          </p:cNvSpPr>
          <p:nvPr>
            <p:ph type="sldNum" sz="quarter" idx="12"/>
          </p:nvPr>
        </p:nvSpPr>
        <p:spPr/>
        <p:txBody>
          <a:bodyPr/>
          <a:lstStyle/>
          <a:p>
            <a:fld id="{330EA680-D336-4FF7-8B7A-9848BB0A1C32}" type="slidenum">
              <a:rPr lang="en-US" smtClean="0"/>
              <a:t>14</a:t>
            </a:fld>
            <a:endParaRPr lang="en-US"/>
          </a:p>
        </p:txBody>
      </p:sp>
    </p:spTree>
    <p:extLst>
      <p:ext uri="{BB962C8B-B14F-4D97-AF65-F5344CB8AC3E}">
        <p14:creationId xmlns:p14="http://schemas.microsoft.com/office/powerpoint/2010/main" val="3296896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ED5C8C-E8F7-7E0F-A1BB-319942EE0BFD}"/>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C1647DEB-4B5A-6BC2-DA73-D8C2EAF616C4}"/>
              </a:ext>
            </a:extLst>
          </p:cNvPr>
          <p:cNvSpPr>
            <a:spLocks noGrp="1"/>
          </p:cNvSpPr>
          <p:nvPr>
            <p:ph type="sldNum" sz="quarter" idx="12"/>
          </p:nvPr>
        </p:nvSpPr>
        <p:spPr/>
        <p:txBody>
          <a:bodyPr/>
          <a:lstStyle/>
          <a:p>
            <a:fld id="{330EA680-D336-4FF7-8B7A-9848BB0A1C32}" type="slidenum">
              <a:rPr lang="en-US" smtClean="0"/>
              <a:t>15</a:t>
            </a:fld>
            <a:endParaRPr lang="en-US"/>
          </a:p>
        </p:txBody>
      </p:sp>
      <p:sp>
        <p:nvSpPr>
          <p:cNvPr id="4" name="TextBox 3">
            <a:extLst>
              <a:ext uri="{FF2B5EF4-FFF2-40B4-BE49-F238E27FC236}">
                <a16:creationId xmlns:a16="http://schemas.microsoft.com/office/drawing/2014/main" id="{220CEA19-11FD-CBF3-AB18-249F5FEE3F28}"/>
              </a:ext>
            </a:extLst>
          </p:cNvPr>
          <p:cNvSpPr txBox="1"/>
          <p:nvPr/>
        </p:nvSpPr>
        <p:spPr>
          <a:xfrm>
            <a:off x="76200" y="136525"/>
            <a:ext cx="12039600" cy="4093428"/>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Recent studies have focused on transformer-based language models such as MuRIL, mDeBERTa and XLM-RoBERTa.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models use attention mechanisms to capture deeper contextual and semantic relationships between words, making them highly effective for text classification tasks.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Transformer models have shown improved performance in detecting harmful or abusive content, especially in multilingual environments.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However, detecting cyberbullying in code-mixed conversations, where multiple languages are used in the same sentence, remains a challenging problem.</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project builds upon these research efforts by combining traditional machine learning algorithms with transformer-based models to analyze multilingual code-mixed text and evaluate their performance for effective cyberbullying detection.</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0120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2122B5A-9E79-1773-DF3E-1DC690921BC5}"/>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AC32D30D-C911-1380-1EA2-408DA099BC3E}"/>
              </a:ext>
            </a:extLst>
          </p:cNvPr>
          <p:cNvSpPr>
            <a:spLocks noGrp="1"/>
          </p:cNvSpPr>
          <p:nvPr>
            <p:ph type="sldNum" sz="quarter" idx="12"/>
          </p:nvPr>
        </p:nvSpPr>
        <p:spPr/>
        <p:txBody>
          <a:bodyPr/>
          <a:lstStyle/>
          <a:p>
            <a:fld id="{330EA680-D336-4FF7-8B7A-9848BB0A1C32}" type="slidenum">
              <a:rPr lang="en-US" smtClean="0"/>
              <a:t>16</a:t>
            </a:fld>
            <a:endParaRPr lang="en-US"/>
          </a:p>
        </p:txBody>
      </p:sp>
      <p:graphicFrame>
        <p:nvGraphicFramePr>
          <p:cNvPr id="4" name="Table 3">
            <a:extLst>
              <a:ext uri="{FF2B5EF4-FFF2-40B4-BE49-F238E27FC236}">
                <a16:creationId xmlns:a16="http://schemas.microsoft.com/office/drawing/2014/main" id="{7A147A48-329B-0347-DE58-D9CBD965B007}"/>
              </a:ext>
            </a:extLst>
          </p:cNvPr>
          <p:cNvGraphicFramePr>
            <a:graphicFrameLocks noGrp="1"/>
          </p:cNvGraphicFramePr>
          <p:nvPr>
            <p:extLst>
              <p:ext uri="{D42A27DB-BD31-4B8C-83A1-F6EECF244321}">
                <p14:modId xmlns:p14="http://schemas.microsoft.com/office/powerpoint/2010/main" val="3491091545"/>
              </p:ext>
            </p:extLst>
          </p:nvPr>
        </p:nvGraphicFramePr>
        <p:xfrm>
          <a:off x="76200" y="136525"/>
          <a:ext cx="12057380" cy="6042846"/>
        </p:xfrm>
        <a:graphic>
          <a:graphicData uri="http://schemas.openxmlformats.org/drawingml/2006/table">
            <a:tbl>
              <a:tblPr firstRow="1" bandRow="1">
                <a:tableStyleId>{5C22544A-7EE6-4342-B048-85BDC9FD1C3A}</a:tableStyleId>
              </a:tblPr>
              <a:tblGrid>
                <a:gridCol w="703580">
                  <a:extLst>
                    <a:ext uri="{9D8B030D-6E8A-4147-A177-3AD203B41FA5}">
                      <a16:colId xmlns:a16="http://schemas.microsoft.com/office/drawing/2014/main" val="2005996347"/>
                    </a:ext>
                  </a:extLst>
                </a:gridCol>
                <a:gridCol w="2971800">
                  <a:extLst>
                    <a:ext uri="{9D8B030D-6E8A-4147-A177-3AD203B41FA5}">
                      <a16:colId xmlns:a16="http://schemas.microsoft.com/office/drawing/2014/main" val="1390267171"/>
                    </a:ext>
                  </a:extLst>
                </a:gridCol>
                <a:gridCol w="2496820">
                  <a:extLst>
                    <a:ext uri="{9D8B030D-6E8A-4147-A177-3AD203B41FA5}">
                      <a16:colId xmlns:a16="http://schemas.microsoft.com/office/drawing/2014/main" val="3326425091"/>
                    </a:ext>
                  </a:extLst>
                </a:gridCol>
                <a:gridCol w="703580">
                  <a:extLst>
                    <a:ext uri="{9D8B030D-6E8A-4147-A177-3AD203B41FA5}">
                      <a16:colId xmlns:a16="http://schemas.microsoft.com/office/drawing/2014/main" val="3648837930"/>
                    </a:ext>
                  </a:extLst>
                </a:gridCol>
                <a:gridCol w="5181600">
                  <a:extLst>
                    <a:ext uri="{9D8B030D-6E8A-4147-A177-3AD203B41FA5}">
                      <a16:colId xmlns:a16="http://schemas.microsoft.com/office/drawing/2014/main" val="1682232286"/>
                    </a:ext>
                  </a:extLst>
                </a:gridCol>
              </a:tblGrid>
              <a:tr h="358589">
                <a:tc>
                  <a:txBody>
                    <a:bodyPr/>
                    <a:lstStyle/>
                    <a:p>
                      <a:pPr algn="ctr"/>
                      <a:r>
                        <a:rPr lang="en-IN" dirty="0" err="1">
                          <a:solidFill>
                            <a:sysClr val="windowText" lastClr="000000"/>
                          </a:solidFill>
                          <a:latin typeface="Times New Roman" panose="02020603050405020304" pitchFamily="18" charset="0"/>
                          <a:cs typeface="Times New Roman" panose="02020603050405020304" pitchFamily="18" charset="0"/>
                        </a:rPr>
                        <a:t>S.No</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2502663"/>
                  </a:ext>
                </a:extLst>
              </a:tr>
              <a:tr h="1259043">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Explainable Cyberbullying Detection in Hinglish: A Generative  Approach</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i-FI" dirty="0">
                          <a:latin typeface="Times New Roman" panose="02020603050405020304" pitchFamily="18" charset="0"/>
                          <a:cs typeface="Times New Roman" panose="02020603050405020304" pitchFamily="18" charset="0"/>
                        </a:rPr>
                        <a:t>Maity, K., Jain, R., Jha, P.,&amp;Saha,S.</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Introduces an explain able cyberbullying detection framework for Hinglish text using a multitask generative model that performs sentiment analysis, rationale extraction and target identification.</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8823271"/>
                  </a:ext>
                </a:extLst>
              </a:tr>
              <a:tr h="1461787">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Multilingual Representations for Indian Languages (MuRIL)</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Khanuja, S., Bansal, D., Mehtani, S., Khosla, S., Dey, A., Gopalan, B., &amp;</a:t>
                      </a:r>
                      <a:r>
                        <a:rPr lang="en-IN" dirty="0" err="1">
                          <a:latin typeface="Times New Roman" panose="02020603050405020304" pitchFamily="18" charset="0"/>
                          <a:cs typeface="Times New Roman" panose="02020603050405020304" pitchFamily="18" charset="0"/>
                        </a:rPr>
                        <a:t>Talukdar,P</a:t>
                      </a:r>
                      <a:r>
                        <a:rPr lang="en-IN" dirty="0">
                          <a:latin typeface="Times New Roman" panose="02020603050405020304" pitchFamily="18" charset="0"/>
                          <a:cs typeface="Times New Roman" panose="02020603050405020304" pitchFamily="18" charset="0"/>
                        </a:rPr>
                        <a:t>.</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Presents a multilingual transformer model designed for Indian languages, trained with translated and transliterated datasets to improve performance in multilingual NLP tasks.</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75089933"/>
                  </a:ext>
                </a:extLst>
              </a:tr>
              <a:tr h="1252960">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err="1">
                          <a:latin typeface="Times New Roman" panose="02020603050405020304" pitchFamily="18" charset="0"/>
                          <a:cs typeface="Times New Roman" panose="02020603050405020304" pitchFamily="18" charset="0"/>
                        </a:rPr>
                        <a:t>DeBERTa:Decoding</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Enhanced BERT with Disentangled Attention</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He, P., Liu, </a:t>
                      </a:r>
                      <a:r>
                        <a:rPr lang="en-US" dirty="0" err="1">
                          <a:latin typeface="Times New Roman" panose="02020603050405020304" pitchFamily="18" charset="0"/>
                          <a:cs typeface="Times New Roman" panose="02020603050405020304" pitchFamily="18" charset="0"/>
                        </a:rPr>
                        <a:t>X.,Gao</a:t>
                      </a:r>
                      <a:r>
                        <a:rPr lang="en-US" dirty="0">
                          <a:latin typeface="Times New Roman" panose="02020603050405020304" pitchFamily="18" charset="0"/>
                          <a:cs typeface="Times New Roman" panose="02020603050405020304" pitchFamily="18" charset="0"/>
                        </a:rPr>
                        <a:t>, J.,&amp; </a:t>
                      </a:r>
                      <a:r>
                        <a:rPr lang="en-US" dirty="0" err="1">
                          <a:latin typeface="Times New Roman" panose="02020603050405020304" pitchFamily="18" charset="0"/>
                          <a:cs typeface="Times New Roman" panose="02020603050405020304" pitchFamily="18" charset="0"/>
                        </a:rPr>
                        <a:t>Chen,W</a:t>
                      </a:r>
                      <a:r>
                        <a:rPr lang="en-US" dirty="0">
                          <a:latin typeface="Times New Roman" panose="02020603050405020304" pitchFamily="18" charset="0"/>
                          <a:cs typeface="Times New Roman" panose="02020603050405020304" pitchFamily="18" charset="0"/>
                        </a:rPr>
                        <a:t>.</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Introduces </a:t>
                      </a:r>
                      <a:r>
                        <a:rPr lang="en-IN" dirty="0" err="1">
                          <a:latin typeface="Times New Roman" panose="02020603050405020304" pitchFamily="18" charset="0"/>
                          <a:cs typeface="Times New Roman" panose="02020603050405020304" pitchFamily="18" charset="0"/>
                        </a:rPr>
                        <a:t>DeBERTa</a:t>
                      </a:r>
                      <a:r>
                        <a:rPr lang="en-IN" dirty="0">
                          <a:latin typeface="Times New Roman" panose="02020603050405020304" pitchFamily="18" charset="0"/>
                          <a:cs typeface="Times New Roman" panose="02020603050405020304" pitchFamily="18" charset="0"/>
                        </a:rPr>
                        <a:t>, an improved transformer architecture that separates content and positional information using disentangled attention to enhance contextual understanding.</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5863972"/>
                  </a:ext>
                </a:extLst>
              </a:tr>
              <a:tr h="1703296">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Unsupervised Cross-Lingual Representation Learning at Scale</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Conneau,A.,Khandelwal,K.,Goyal,N.,</a:t>
                      </a:r>
                      <a:r>
                        <a:rPr lang="en-IN" dirty="0" err="1">
                          <a:latin typeface="Times New Roman" panose="02020603050405020304" pitchFamily="18" charset="0"/>
                          <a:cs typeface="Times New Roman" panose="02020603050405020304" pitchFamily="18" charset="0"/>
                        </a:rPr>
                        <a:t>Chaudhary,V</a:t>
                      </a:r>
                      <a:r>
                        <a:rPr lang="en-IN" dirty="0">
                          <a:latin typeface="Times New Roman" panose="02020603050405020304" pitchFamily="18" charset="0"/>
                          <a:cs typeface="Times New Roman" panose="02020603050405020304" pitchFamily="18" charset="0"/>
                        </a:rPr>
                        <a:t>., Wenzek, G.,</a:t>
                      </a:r>
                    </a:p>
                    <a:p>
                      <a:pPr algn="just"/>
                      <a:r>
                        <a:rPr lang="en-IN" dirty="0">
                          <a:latin typeface="Times New Roman" panose="02020603050405020304" pitchFamily="18" charset="0"/>
                          <a:cs typeface="Times New Roman" panose="02020603050405020304" pitchFamily="18" charset="0"/>
                        </a:rPr>
                        <a:t>Guzm´an,F.,&amp;</a:t>
                      </a:r>
                      <a:r>
                        <a:rPr lang="en-IN" dirty="0" err="1">
                          <a:latin typeface="Times New Roman" panose="02020603050405020304" pitchFamily="18" charset="0"/>
                          <a:cs typeface="Times New Roman" panose="02020603050405020304" pitchFamily="18" charset="0"/>
                        </a:rPr>
                        <a:t>Stoyanov,V</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Presents XLM-R, a multilingual transformer model trained on large multilingual corpora to support cross-lingual tasks such as classification and translation.</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64868016"/>
                  </a:ext>
                </a:extLst>
              </a:tr>
            </a:tbl>
          </a:graphicData>
        </a:graphic>
      </p:graphicFrame>
    </p:spTree>
    <p:extLst>
      <p:ext uri="{BB962C8B-B14F-4D97-AF65-F5344CB8AC3E}">
        <p14:creationId xmlns:p14="http://schemas.microsoft.com/office/powerpoint/2010/main" val="3320835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BA5A08F-58F6-0380-63B2-A451CBC7E1BB}"/>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CFE32576-F437-BB08-5556-EBF076FFE9DE}"/>
              </a:ext>
            </a:extLst>
          </p:cNvPr>
          <p:cNvSpPr>
            <a:spLocks noGrp="1"/>
          </p:cNvSpPr>
          <p:nvPr>
            <p:ph type="sldNum" sz="quarter" idx="12"/>
          </p:nvPr>
        </p:nvSpPr>
        <p:spPr/>
        <p:txBody>
          <a:bodyPr/>
          <a:lstStyle/>
          <a:p>
            <a:fld id="{330EA680-D336-4FF7-8B7A-9848BB0A1C32}" type="slidenum">
              <a:rPr lang="en-US" smtClean="0"/>
              <a:t>17</a:t>
            </a:fld>
            <a:endParaRPr lang="en-US"/>
          </a:p>
        </p:txBody>
      </p:sp>
      <p:graphicFrame>
        <p:nvGraphicFramePr>
          <p:cNvPr id="4" name="Table 3">
            <a:extLst>
              <a:ext uri="{FF2B5EF4-FFF2-40B4-BE49-F238E27FC236}">
                <a16:creationId xmlns:a16="http://schemas.microsoft.com/office/drawing/2014/main" id="{A8E53EA0-D8AC-7F56-9B7D-FD21C66DD0F8}"/>
              </a:ext>
            </a:extLst>
          </p:cNvPr>
          <p:cNvGraphicFramePr>
            <a:graphicFrameLocks noGrp="1"/>
          </p:cNvGraphicFramePr>
          <p:nvPr>
            <p:extLst>
              <p:ext uri="{D42A27DB-BD31-4B8C-83A1-F6EECF244321}">
                <p14:modId xmlns:p14="http://schemas.microsoft.com/office/powerpoint/2010/main" val="3469521352"/>
              </p:ext>
            </p:extLst>
          </p:nvPr>
        </p:nvGraphicFramePr>
        <p:xfrm>
          <a:off x="76200" y="198437"/>
          <a:ext cx="12039600" cy="5928995"/>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160724950"/>
                    </a:ext>
                  </a:extLst>
                </a:gridCol>
                <a:gridCol w="2971800">
                  <a:extLst>
                    <a:ext uri="{9D8B030D-6E8A-4147-A177-3AD203B41FA5}">
                      <a16:colId xmlns:a16="http://schemas.microsoft.com/office/drawing/2014/main" val="1021480728"/>
                    </a:ext>
                  </a:extLst>
                </a:gridCol>
                <a:gridCol w="2438400">
                  <a:extLst>
                    <a:ext uri="{9D8B030D-6E8A-4147-A177-3AD203B41FA5}">
                      <a16:colId xmlns:a16="http://schemas.microsoft.com/office/drawing/2014/main" val="3932424650"/>
                    </a:ext>
                  </a:extLst>
                </a:gridCol>
                <a:gridCol w="762000">
                  <a:extLst>
                    <a:ext uri="{9D8B030D-6E8A-4147-A177-3AD203B41FA5}">
                      <a16:colId xmlns:a16="http://schemas.microsoft.com/office/drawing/2014/main" val="4103712683"/>
                    </a:ext>
                  </a:extLst>
                </a:gridCol>
                <a:gridCol w="5105400">
                  <a:extLst>
                    <a:ext uri="{9D8B030D-6E8A-4147-A177-3AD203B41FA5}">
                      <a16:colId xmlns:a16="http://schemas.microsoft.com/office/drawing/2014/main" val="3421802373"/>
                    </a:ext>
                  </a:extLst>
                </a:gridCol>
              </a:tblGrid>
              <a:tr h="383620">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S.NO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4743663"/>
                  </a:ext>
                </a:extLst>
              </a:tr>
              <a:tr h="1308655">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err="1">
                          <a:latin typeface="Times New Roman" panose="02020603050405020304" pitchFamily="18" charset="0"/>
                          <a:cs typeface="Times New Roman" panose="02020603050405020304" pitchFamily="18" charset="0"/>
                        </a:rPr>
                        <a:t>RoBERT:ARobustly</a:t>
                      </a:r>
                      <a:r>
                        <a:rPr lang="en-US" dirty="0">
                          <a:latin typeface="Times New Roman" panose="02020603050405020304" pitchFamily="18" charset="0"/>
                          <a:cs typeface="Times New Roman" panose="02020603050405020304" pitchFamily="18" charset="0"/>
                        </a:rPr>
                        <a:t> Optimized BERT Pretraining Approach</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Liu, Y., Ott, M.,</a:t>
                      </a:r>
                      <a:r>
                        <a:rPr lang="en-IN" dirty="0" err="1">
                          <a:latin typeface="Times New Roman" panose="02020603050405020304" pitchFamily="18" charset="0"/>
                          <a:cs typeface="Times New Roman" panose="02020603050405020304" pitchFamily="18" charset="0"/>
                        </a:rPr>
                        <a:t>Goyal,N</a:t>
                      </a:r>
                      <a:r>
                        <a:rPr lang="en-IN" dirty="0">
                          <a:latin typeface="Times New Roman" panose="02020603050405020304" pitchFamily="18" charset="0"/>
                          <a:cs typeface="Times New Roman" panose="02020603050405020304" pitchFamily="18" charset="0"/>
                        </a:rPr>
                        <a:t>., Du, J., Joshi, M., </a:t>
                      </a:r>
                      <a:r>
                        <a:rPr lang="en-IN" dirty="0" err="1">
                          <a:latin typeface="Times New Roman" panose="02020603050405020304" pitchFamily="18" charset="0"/>
                          <a:cs typeface="Times New Roman" panose="02020603050405020304" pitchFamily="18" charset="0"/>
                        </a:rPr>
                        <a:t>Chen,D</a:t>
                      </a:r>
                      <a:r>
                        <a:rPr lang="en-IN" dirty="0">
                          <a:latin typeface="Times New Roman" panose="02020603050405020304" pitchFamily="18" charset="0"/>
                          <a:cs typeface="Times New Roman" panose="02020603050405020304" pitchFamily="18" charset="0"/>
                        </a:rPr>
                        <a:t>., &amp;</a:t>
                      </a:r>
                      <a:r>
                        <a:rPr lang="en-IN" dirty="0" err="1">
                          <a:latin typeface="Times New Roman" panose="02020603050405020304" pitchFamily="18" charset="0"/>
                          <a:cs typeface="Times New Roman" panose="02020603050405020304" pitchFamily="18" charset="0"/>
                        </a:rPr>
                        <a:t>Levy,O</a:t>
                      </a:r>
                      <a:r>
                        <a:rPr lang="en-IN" dirty="0">
                          <a:latin typeface="Times New Roman" panose="02020603050405020304" pitchFamily="18" charset="0"/>
                          <a:cs typeface="Times New Roman" panose="02020603050405020304" pitchFamily="18" charset="0"/>
                        </a:rPr>
                        <a:t>.</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Proposes an optimized version of BERT with improved training strategies and larger datasets, achieving better results in multiple NLP bench marks.</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82735547"/>
                  </a:ext>
                </a:extLst>
              </a:tr>
              <a:tr h="1600200">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BERT: Pre-training of Deep Bidirectional Transformers for Language Understanding</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r-FR" dirty="0" err="1">
                          <a:latin typeface="Times New Roman" panose="02020603050405020304" pitchFamily="18" charset="0"/>
                          <a:cs typeface="Times New Roman" panose="02020603050405020304" pitchFamily="18" charset="0"/>
                        </a:rPr>
                        <a:t>Devlin</a:t>
                      </a:r>
                      <a:r>
                        <a:rPr lang="fr-FR" dirty="0">
                          <a:latin typeface="Times New Roman" panose="02020603050405020304" pitchFamily="18" charset="0"/>
                          <a:cs typeface="Times New Roman" panose="02020603050405020304" pitchFamily="18" charset="0"/>
                        </a:rPr>
                        <a:t>, J., Chang, M., Lee,K.,&amp;</a:t>
                      </a:r>
                      <a:r>
                        <a:rPr lang="fr-FR" dirty="0" err="1">
                          <a:latin typeface="Times New Roman" panose="02020603050405020304" pitchFamily="18" charset="0"/>
                          <a:cs typeface="Times New Roman" panose="02020603050405020304" pitchFamily="18" charset="0"/>
                        </a:rPr>
                        <a:t>Toutanova,K</a:t>
                      </a:r>
                      <a:r>
                        <a:rPr lang="fr-FR" dirty="0">
                          <a:latin typeface="Times New Roman" panose="02020603050405020304" pitchFamily="18" charset="0"/>
                          <a:cs typeface="Times New Roman" panose="02020603050405020304" pitchFamily="18" charset="0"/>
                        </a:rPr>
                        <a:t>.</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Introduces BERT, a bidirectional trans former model that captures contextual word representations and significantly improves NLP tasks such as sentiment analysis and text classification.</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3799731"/>
                  </a:ext>
                </a:extLst>
              </a:tr>
              <a:tr h="1447800">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Automated Hate Speech Detection and the Problem of Offensive Language</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err="1">
                          <a:latin typeface="Times New Roman" panose="02020603050405020304" pitchFamily="18" charset="0"/>
                          <a:cs typeface="Times New Roman" panose="02020603050405020304" pitchFamily="18" charset="0"/>
                        </a:rPr>
                        <a:t>Davidson,T.,Warmsley</a:t>
                      </a:r>
                      <a:r>
                        <a:rPr lang="en-US" dirty="0">
                          <a:latin typeface="Times New Roman" panose="02020603050405020304" pitchFamily="18" charset="0"/>
                          <a:cs typeface="Times New Roman" panose="02020603050405020304" pitchFamily="18" charset="0"/>
                        </a:rPr>
                        <a:t>, D., Macy, M., &amp; </a:t>
                      </a:r>
                      <a:r>
                        <a:rPr lang="en-US" dirty="0" err="1">
                          <a:latin typeface="Times New Roman" panose="02020603050405020304" pitchFamily="18" charset="0"/>
                          <a:cs typeface="Times New Roman" panose="02020603050405020304" pitchFamily="18" charset="0"/>
                        </a:rPr>
                        <a:t>Weber,I</a:t>
                      </a:r>
                      <a:r>
                        <a:rPr lang="en-US" dirty="0">
                          <a:latin typeface="Times New Roman" panose="02020603050405020304" pitchFamily="18" charset="0"/>
                          <a:cs typeface="Times New Roman" panose="02020603050405020304" pitchFamily="18" charset="0"/>
                        </a:rPr>
                        <a:t>.</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Develops a machine learning system to classify tweets into hate speech, offensive language and neutral content using NLP preprocessing and classification algorithms.</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1145595"/>
                  </a:ext>
                </a:extLst>
              </a:tr>
              <a:tr h="1157288">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Detecting Hate Speech in Social Media</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err="1">
                          <a:latin typeface="Times New Roman" panose="02020603050405020304" pitchFamily="18" charset="0"/>
                          <a:cs typeface="Times New Roman" panose="02020603050405020304" pitchFamily="18" charset="0"/>
                        </a:rPr>
                        <a:t>Malmasi,S.,&amp;Zampieri</a:t>
                      </a:r>
                      <a:r>
                        <a:rPr lang="en-IN" dirty="0">
                          <a:latin typeface="Times New Roman" panose="02020603050405020304" pitchFamily="18" charset="0"/>
                          <a:cs typeface="Times New Roman" panose="02020603050405020304" pitchFamily="18" charset="0"/>
                        </a:rPr>
                        <a:t>, M.</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Applies supervised machine learning tech </a:t>
                      </a:r>
                      <a:r>
                        <a:rPr lang="en-US" dirty="0" err="1">
                          <a:latin typeface="Times New Roman" panose="02020603050405020304" pitchFamily="18" charset="0"/>
                          <a:cs typeface="Times New Roman" panose="02020603050405020304" pitchFamily="18" charset="0"/>
                        </a:rPr>
                        <a:t>niques</a:t>
                      </a:r>
                      <a:r>
                        <a:rPr lang="en-US" dirty="0">
                          <a:latin typeface="Times New Roman" panose="02020603050405020304" pitchFamily="18" charset="0"/>
                          <a:cs typeface="Times New Roman" panose="02020603050405020304" pitchFamily="18" charset="0"/>
                        </a:rPr>
                        <a:t> with linguistic features such as n-grams to classify social media posts containing hate speech or offensive language.</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022463"/>
                  </a:ext>
                </a:extLst>
              </a:tr>
            </a:tbl>
          </a:graphicData>
        </a:graphic>
      </p:graphicFrame>
    </p:spTree>
    <p:extLst>
      <p:ext uri="{BB962C8B-B14F-4D97-AF65-F5344CB8AC3E}">
        <p14:creationId xmlns:p14="http://schemas.microsoft.com/office/powerpoint/2010/main" val="1654459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EAE2C91-F6F3-BCB2-524A-5FF345821C42}"/>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1C580961-1D10-B439-5738-CFFB4F23FEFF}"/>
              </a:ext>
            </a:extLst>
          </p:cNvPr>
          <p:cNvSpPr>
            <a:spLocks noGrp="1"/>
          </p:cNvSpPr>
          <p:nvPr>
            <p:ph type="sldNum" sz="quarter" idx="12"/>
          </p:nvPr>
        </p:nvSpPr>
        <p:spPr/>
        <p:txBody>
          <a:bodyPr/>
          <a:lstStyle/>
          <a:p>
            <a:fld id="{330EA680-D336-4FF7-8B7A-9848BB0A1C32}" type="slidenum">
              <a:rPr lang="en-US" smtClean="0"/>
              <a:t>18</a:t>
            </a:fld>
            <a:endParaRPr lang="en-US"/>
          </a:p>
        </p:txBody>
      </p:sp>
      <p:graphicFrame>
        <p:nvGraphicFramePr>
          <p:cNvPr id="4" name="Table 3">
            <a:extLst>
              <a:ext uri="{FF2B5EF4-FFF2-40B4-BE49-F238E27FC236}">
                <a16:creationId xmlns:a16="http://schemas.microsoft.com/office/drawing/2014/main" id="{01470199-CD6F-C6C5-477A-D89881DA6D3F}"/>
              </a:ext>
            </a:extLst>
          </p:cNvPr>
          <p:cNvGraphicFramePr>
            <a:graphicFrameLocks noGrp="1"/>
          </p:cNvGraphicFramePr>
          <p:nvPr>
            <p:extLst>
              <p:ext uri="{D42A27DB-BD31-4B8C-83A1-F6EECF244321}">
                <p14:modId xmlns:p14="http://schemas.microsoft.com/office/powerpoint/2010/main" val="2282354836"/>
              </p:ext>
            </p:extLst>
          </p:nvPr>
        </p:nvGraphicFramePr>
        <p:xfrm>
          <a:off x="76200" y="136525"/>
          <a:ext cx="12039600" cy="5847951"/>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3576915026"/>
                    </a:ext>
                  </a:extLst>
                </a:gridCol>
                <a:gridCol w="3048000">
                  <a:extLst>
                    <a:ext uri="{9D8B030D-6E8A-4147-A177-3AD203B41FA5}">
                      <a16:colId xmlns:a16="http://schemas.microsoft.com/office/drawing/2014/main" val="2093127856"/>
                    </a:ext>
                  </a:extLst>
                </a:gridCol>
                <a:gridCol w="2362200">
                  <a:extLst>
                    <a:ext uri="{9D8B030D-6E8A-4147-A177-3AD203B41FA5}">
                      <a16:colId xmlns:a16="http://schemas.microsoft.com/office/drawing/2014/main" val="1321247491"/>
                    </a:ext>
                  </a:extLst>
                </a:gridCol>
                <a:gridCol w="762000">
                  <a:extLst>
                    <a:ext uri="{9D8B030D-6E8A-4147-A177-3AD203B41FA5}">
                      <a16:colId xmlns:a16="http://schemas.microsoft.com/office/drawing/2014/main" val="891713973"/>
                    </a:ext>
                  </a:extLst>
                </a:gridCol>
                <a:gridCol w="5181600">
                  <a:extLst>
                    <a:ext uri="{9D8B030D-6E8A-4147-A177-3AD203B41FA5}">
                      <a16:colId xmlns:a16="http://schemas.microsoft.com/office/drawing/2014/main" val="200848626"/>
                    </a:ext>
                  </a:extLst>
                </a:gridCol>
              </a:tblGrid>
              <a:tr h="453140">
                <a:tc>
                  <a:txBody>
                    <a:bodyPr/>
                    <a:lstStyle/>
                    <a:p>
                      <a:pPr algn="ctr"/>
                      <a:r>
                        <a:rPr lang="en-IN" dirty="0" err="1">
                          <a:solidFill>
                            <a:schemeClr val="tx1"/>
                          </a:solidFill>
                          <a:latin typeface="Times New Roman" panose="02020603050405020304" pitchFamily="18" charset="0"/>
                          <a:cs typeface="Times New Roman" panose="02020603050405020304" pitchFamily="18" charset="0"/>
                        </a:rPr>
                        <a:t>S.No</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2507018"/>
                  </a:ext>
                </a:extLst>
              </a:tr>
              <a:tr h="1299946">
                <a:tc>
                  <a:txBody>
                    <a:bodyPr/>
                    <a:lstStyle/>
                    <a:p>
                      <a:pPr algn="ctr"/>
                      <a:r>
                        <a:rPr lang="en-IN" dirty="0">
                          <a:solidFill>
                            <a:schemeClr val="tx1"/>
                          </a:solidFill>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Deep Learning for Hate Speech Detection in Tweets</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Badjatiya,P., Gupta, S., </a:t>
                      </a:r>
                      <a:r>
                        <a:rPr lang="en-IN" dirty="0" err="1">
                          <a:latin typeface="Times New Roman" panose="02020603050405020304" pitchFamily="18" charset="0"/>
                          <a:cs typeface="Times New Roman" panose="02020603050405020304" pitchFamily="18" charset="0"/>
                        </a:rPr>
                        <a:t>Gupta,M</a:t>
                      </a:r>
                      <a:r>
                        <a:rPr lang="en-IN" dirty="0">
                          <a:latin typeface="Times New Roman" panose="02020603050405020304" pitchFamily="18" charset="0"/>
                          <a:cs typeface="Times New Roman" panose="02020603050405020304" pitchFamily="18" charset="0"/>
                        </a:rPr>
                        <a:t>., &amp; </a:t>
                      </a:r>
                      <a:r>
                        <a:rPr lang="en-IN" dirty="0" err="1">
                          <a:latin typeface="Times New Roman" panose="02020603050405020304" pitchFamily="18" charset="0"/>
                          <a:cs typeface="Times New Roman" panose="02020603050405020304" pitchFamily="18" charset="0"/>
                        </a:rPr>
                        <a:t>Varma,V</a:t>
                      </a:r>
                      <a:r>
                        <a:rPr lang="en-IN" dirty="0">
                          <a:latin typeface="Times New Roman" panose="02020603050405020304" pitchFamily="18" charset="0"/>
                          <a:cs typeface="Times New Roman" panose="02020603050405020304" pitchFamily="18" charset="0"/>
                        </a:rPr>
                        <a:t>.</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Explores deep learning models such as CNN and LSTM for identifying hate speech in tweets and compares their performance with traditional machine learning methods.</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06884162"/>
                  </a:ext>
                </a:extLst>
              </a:tr>
              <a:tr h="1371600">
                <a:tc>
                  <a:txBody>
                    <a:bodyPr/>
                    <a:lstStyle/>
                    <a:p>
                      <a:pPr algn="ctr"/>
                      <a:r>
                        <a:rPr lang="en-IN" dirty="0">
                          <a:solidFill>
                            <a:schemeClr val="tx1"/>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Approaches to Automated Detection of Cyberbullying: A Survey</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i-FI" dirty="0">
                          <a:latin typeface="Times New Roman" panose="02020603050405020304" pitchFamily="18" charset="0"/>
                          <a:cs typeface="Times New Roman" panose="02020603050405020304" pitchFamily="18" charset="0"/>
                        </a:rPr>
                        <a:t>Salawu, S., He, Y., &amp; Lumsden,J.</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Provides a comprehensive survey of cyber bullying detection approaches including rule based, supervised learning and hybrid methods, highlighting key challenges.</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357409"/>
                  </a:ext>
                </a:extLst>
              </a:tr>
              <a:tr h="1295400">
                <a:tc>
                  <a:txBody>
                    <a:bodyPr/>
                    <a:lstStyle/>
                    <a:p>
                      <a:pPr algn="ctr"/>
                      <a:r>
                        <a:rPr lang="en-IN" dirty="0">
                          <a:solidFill>
                            <a:schemeClr val="tx1"/>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Hateful Symbols or Hateful People? Predictive Features for Hate Speech Detection on Twitter</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Talat, Z., &amp; </a:t>
                      </a:r>
                      <a:r>
                        <a:rPr lang="en-IN" dirty="0" err="1">
                          <a:latin typeface="Times New Roman" panose="02020603050405020304" pitchFamily="18" charset="0"/>
                          <a:cs typeface="Times New Roman" panose="02020603050405020304" pitchFamily="18" charset="0"/>
                        </a:rPr>
                        <a:t>Hovy,D</a:t>
                      </a:r>
                      <a:r>
                        <a:rPr lang="en-IN" dirty="0">
                          <a:latin typeface="Times New Roman" panose="02020603050405020304" pitchFamily="18" charset="0"/>
                          <a:cs typeface="Times New Roman" panose="02020603050405020304" pitchFamily="18" charset="0"/>
                        </a:rPr>
                        <a:t>.</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2016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Investigates linguistic and contextual features that help identify hate speech in Twitter data using annotated datasets and machine learning models.</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8812456"/>
                  </a:ext>
                </a:extLst>
              </a:tr>
              <a:tr h="1427865">
                <a:tc>
                  <a:txBody>
                    <a:bodyPr/>
                    <a:lstStyle/>
                    <a:p>
                      <a:pPr algn="ctr"/>
                      <a:r>
                        <a:rPr lang="en-IN" dirty="0">
                          <a:solidFill>
                            <a:schemeClr val="tx1"/>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Bullying in the Digital Age: A Critical Review and Meta-analysis of Cyberbullying Research Among Youth</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dirty="0">
                          <a:latin typeface="Times New Roman" panose="02020603050405020304" pitchFamily="18" charset="0"/>
                          <a:cs typeface="Times New Roman" panose="02020603050405020304" pitchFamily="18" charset="0"/>
                        </a:rPr>
                        <a:t>Kowalski,R., Giumetti, G., Schroeder,A., &amp; Lattanner, M.</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2014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Conducts a meta analysis of cyberbullying research focusing on psychological effects, causes and behavioral patterns among young social media users.</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5099429"/>
                  </a:ext>
                </a:extLst>
              </a:tr>
            </a:tbl>
          </a:graphicData>
        </a:graphic>
      </p:graphicFrame>
    </p:spTree>
    <p:extLst>
      <p:ext uri="{BB962C8B-B14F-4D97-AF65-F5344CB8AC3E}">
        <p14:creationId xmlns:p14="http://schemas.microsoft.com/office/powerpoint/2010/main" val="1991838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18B307E-9A4C-2F93-349C-949BE0FB1B9C}"/>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5262A2D4-2C7B-3A5E-5869-D1D5690C408D}"/>
              </a:ext>
            </a:extLst>
          </p:cNvPr>
          <p:cNvSpPr>
            <a:spLocks noGrp="1"/>
          </p:cNvSpPr>
          <p:nvPr>
            <p:ph type="sldNum" sz="quarter" idx="12"/>
          </p:nvPr>
        </p:nvSpPr>
        <p:spPr/>
        <p:txBody>
          <a:bodyPr/>
          <a:lstStyle/>
          <a:p>
            <a:fld id="{330EA680-D336-4FF7-8B7A-9848BB0A1C32}" type="slidenum">
              <a:rPr lang="en-US" smtClean="0"/>
              <a:t>19</a:t>
            </a:fld>
            <a:endParaRPr lang="en-US"/>
          </a:p>
        </p:txBody>
      </p:sp>
      <p:graphicFrame>
        <p:nvGraphicFramePr>
          <p:cNvPr id="4" name="Table 3">
            <a:extLst>
              <a:ext uri="{FF2B5EF4-FFF2-40B4-BE49-F238E27FC236}">
                <a16:creationId xmlns:a16="http://schemas.microsoft.com/office/drawing/2014/main" id="{6728E828-B692-A2F1-685E-170A05C900CC}"/>
              </a:ext>
            </a:extLst>
          </p:cNvPr>
          <p:cNvGraphicFramePr>
            <a:graphicFrameLocks noGrp="1"/>
          </p:cNvGraphicFramePr>
          <p:nvPr>
            <p:extLst>
              <p:ext uri="{D42A27DB-BD31-4B8C-83A1-F6EECF244321}">
                <p14:modId xmlns:p14="http://schemas.microsoft.com/office/powerpoint/2010/main" val="2565774735"/>
              </p:ext>
            </p:extLst>
          </p:nvPr>
        </p:nvGraphicFramePr>
        <p:xfrm>
          <a:off x="76200" y="136524"/>
          <a:ext cx="12039600" cy="4463416"/>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152209832"/>
                    </a:ext>
                  </a:extLst>
                </a:gridCol>
                <a:gridCol w="3048000">
                  <a:extLst>
                    <a:ext uri="{9D8B030D-6E8A-4147-A177-3AD203B41FA5}">
                      <a16:colId xmlns:a16="http://schemas.microsoft.com/office/drawing/2014/main" val="2684456177"/>
                    </a:ext>
                  </a:extLst>
                </a:gridCol>
                <a:gridCol w="2240280">
                  <a:extLst>
                    <a:ext uri="{9D8B030D-6E8A-4147-A177-3AD203B41FA5}">
                      <a16:colId xmlns:a16="http://schemas.microsoft.com/office/drawing/2014/main" val="2104075375"/>
                    </a:ext>
                  </a:extLst>
                </a:gridCol>
                <a:gridCol w="807720">
                  <a:extLst>
                    <a:ext uri="{9D8B030D-6E8A-4147-A177-3AD203B41FA5}">
                      <a16:colId xmlns:a16="http://schemas.microsoft.com/office/drawing/2014/main" val="4292747193"/>
                    </a:ext>
                  </a:extLst>
                </a:gridCol>
                <a:gridCol w="5181600">
                  <a:extLst>
                    <a:ext uri="{9D8B030D-6E8A-4147-A177-3AD203B41FA5}">
                      <a16:colId xmlns:a16="http://schemas.microsoft.com/office/drawing/2014/main" val="3248059225"/>
                    </a:ext>
                  </a:extLst>
                </a:gridCol>
              </a:tblGrid>
              <a:tr h="549276">
                <a:tc>
                  <a:txBody>
                    <a:bodyPr/>
                    <a:lstStyle/>
                    <a:p>
                      <a:pPr algn="ctr"/>
                      <a:r>
                        <a:rPr lang="en-IN" dirty="0" err="1">
                          <a:solidFill>
                            <a:sysClr val="windowText" lastClr="000000"/>
                          </a:solidFill>
                          <a:latin typeface="Times New Roman" panose="02020603050405020304" pitchFamily="18" charset="0"/>
                          <a:cs typeface="Times New Roman" panose="02020603050405020304" pitchFamily="18" charset="0"/>
                        </a:rPr>
                        <a:t>S.No</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1261231"/>
                  </a:ext>
                </a:extLst>
              </a:tr>
              <a:tr h="978535">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Code Mixing: A Challenge for Language Identification in the Language of Social Media</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sv-SE" dirty="0">
                          <a:latin typeface="Times New Roman" panose="02020603050405020304" pitchFamily="18" charset="0"/>
                          <a:cs typeface="Times New Roman" panose="02020603050405020304" pitchFamily="18" charset="0"/>
                        </a:rPr>
                        <a:t>Barman,U.,Das,A.,Wag ner, J., &amp; Foster,J.</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Examines the problem of code-mixed language in social media and proposes machine learning techniques to identify languages at the word level.</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3326259"/>
                  </a:ext>
                </a:extLst>
              </a:tr>
              <a:tr h="978535">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Cyberbullying Re defined: An Analysis of Intent and Repetition</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err="1">
                          <a:latin typeface="Times New Roman" panose="02020603050405020304" pitchFamily="18" charset="0"/>
                          <a:cs typeface="Times New Roman" panose="02020603050405020304" pitchFamily="18" charset="0"/>
                        </a:rPr>
                        <a:t>Walker,C.M</a:t>
                      </a:r>
                      <a:r>
                        <a:rPr lang="en-IN" dirty="0">
                          <a:latin typeface="Times New Roman" panose="02020603050405020304" pitchFamily="18" charset="0"/>
                          <a:cs typeface="Times New Roman" panose="02020603050405020304" pitchFamily="18" charset="0"/>
                        </a:rPr>
                        <a:t>.</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Analyses cyberbullying behaviours by emphasizing two major characteristics: intentional harm and repeated aggression in online communication.</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9116339"/>
                  </a:ext>
                </a:extLst>
              </a:tr>
              <a:tr h="978535">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Detecting Offensive Language in Social Media to Protect Adolescent Online Safety</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pt-BR" dirty="0">
                          <a:latin typeface="Times New Roman" panose="02020603050405020304" pitchFamily="18" charset="0"/>
                          <a:cs typeface="Times New Roman" panose="02020603050405020304" pitchFamily="18" charset="0"/>
                        </a:rPr>
                        <a:t>Chen,Y.,Zhou,Y.,Zhu, S.,&amp;Xu,H.</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Proposes an early offensive language detection system using NLP preprocessing and machine learning classifiers based on textual features.</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546641"/>
                  </a:ext>
                </a:extLst>
              </a:tr>
              <a:tr h="978535">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Cyberbullying and Self-Esteem</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Patchin,J.W.,&amp;</a:t>
                      </a:r>
                      <a:r>
                        <a:rPr lang="en-US" dirty="0" err="1">
                          <a:latin typeface="Times New Roman" panose="02020603050405020304" pitchFamily="18" charset="0"/>
                          <a:cs typeface="Times New Roman" panose="02020603050405020304" pitchFamily="18" charset="0"/>
                        </a:rPr>
                        <a:t>Hinduja,S</a:t>
                      </a:r>
                      <a:r>
                        <a:rPr lang="en-US" dirty="0">
                          <a:latin typeface="Times New Roman" panose="02020603050405020304" pitchFamily="18" charset="0"/>
                          <a:cs typeface="Times New Roman" panose="02020603050405020304" pitchFamily="18" charset="0"/>
                        </a:rPr>
                        <a:t>. </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Examines the psycho logical effects of cyberbullying and shows that victims often experience reduced self esteem, stress and emotional distress.</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0014246"/>
                  </a:ext>
                </a:extLst>
              </a:tr>
            </a:tbl>
          </a:graphicData>
        </a:graphic>
      </p:graphicFrame>
    </p:spTree>
    <p:extLst>
      <p:ext uri="{BB962C8B-B14F-4D97-AF65-F5344CB8AC3E}">
        <p14:creationId xmlns:p14="http://schemas.microsoft.com/office/powerpoint/2010/main" val="3041174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9BC2F2-0898-0CE0-CBD2-6775F384CC83}"/>
              </a:ext>
            </a:extLst>
          </p:cNvPr>
          <p:cNvSpPr>
            <a:spLocks noGrp="1"/>
          </p:cNvSpPr>
          <p:nvPr>
            <p:ph type="title"/>
          </p:nvPr>
        </p:nvSpPr>
        <p:spPr>
          <a:xfrm>
            <a:off x="0" y="136525"/>
            <a:ext cx="12192000" cy="823913"/>
          </a:xfrm>
        </p:spPr>
        <p:txBody>
          <a:bodyPr>
            <a:normAutofit/>
          </a:bodyPr>
          <a:lstStyle/>
          <a:p>
            <a:r>
              <a:rPr lang="en-IN" sz="4800" dirty="0">
                <a:latin typeface="Times New Roman" panose="02020603050405020304" pitchFamily="18" charset="0"/>
                <a:cs typeface="Times New Roman" panose="02020603050405020304" pitchFamily="18" charset="0"/>
              </a:rPr>
              <a:t> 8. </a:t>
            </a:r>
            <a:r>
              <a:rPr lang="en-IN" sz="4800" u="sng" dirty="0">
                <a:latin typeface="Times New Roman" panose="02020603050405020304" pitchFamily="18" charset="0"/>
                <a:cs typeface="Times New Roman" panose="02020603050405020304" pitchFamily="18" charset="0"/>
              </a:rPr>
              <a:t>SYSTEM REQUIREMENTS</a:t>
            </a:r>
          </a:p>
        </p:txBody>
      </p:sp>
      <p:sp>
        <p:nvSpPr>
          <p:cNvPr id="8" name="Text Placeholder 7">
            <a:extLst>
              <a:ext uri="{FF2B5EF4-FFF2-40B4-BE49-F238E27FC236}">
                <a16:creationId xmlns:a16="http://schemas.microsoft.com/office/drawing/2014/main" id="{E1F5EC5C-31DE-CFD6-B1E8-7DE91C9A1439}"/>
              </a:ext>
            </a:extLst>
          </p:cNvPr>
          <p:cNvSpPr>
            <a:spLocks noGrp="1"/>
          </p:cNvSpPr>
          <p:nvPr>
            <p:ph type="body" idx="1"/>
          </p:nvPr>
        </p:nvSpPr>
        <p:spPr>
          <a:xfrm>
            <a:off x="76200" y="1127125"/>
            <a:ext cx="5921375" cy="554038"/>
          </a:xfrm>
        </p:spPr>
        <p:txBody>
          <a:bodyPr/>
          <a:lstStyle/>
          <a:p>
            <a:r>
              <a:rPr lang="en-IN" u="sng" dirty="0">
                <a:latin typeface="Times New Roman" panose="02020603050405020304" pitchFamily="18" charset="0"/>
                <a:cs typeface="Times New Roman" panose="02020603050405020304" pitchFamily="18" charset="0"/>
              </a:rPr>
              <a:t>Software Requirements</a:t>
            </a:r>
          </a:p>
        </p:txBody>
      </p:sp>
      <p:sp>
        <p:nvSpPr>
          <p:cNvPr id="9" name="Content Placeholder 8">
            <a:extLst>
              <a:ext uri="{FF2B5EF4-FFF2-40B4-BE49-F238E27FC236}">
                <a16:creationId xmlns:a16="http://schemas.microsoft.com/office/drawing/2014/main" id="{6F08A1E3-76CD-0FE6-7585-F1DCEA7E944E}"/>
              </a:ext>
            </a:extLst>
          </p:cNvPr>
          <p:cNvSpPr>
            <a:spLocks noGrp="1"/>
          </p:cNvSpPr>
          <p:nvPr>
            <p:ph sz="half" idx="2"/>
          </p:nvPr>
        </p:nvSpPr>
        <p:spPr>
          <a:xfrm>
            <a:off x="98426" y="1681163"/>
            <a:ext cx="5899148" cy="4508500"/>
          </a:xfrm>
        </p:spPr>
        <p:txBody>
          <a:bodyPr>
            <a:normAutofit fontScale="92500" lnSpcReduction="10000"/>
          </a:bodyPr>
          <a:lstStyle/>
          <a:p>
            <a:r>
              <a:rPr lang="en-IN" sz="2200" dirty="0">
                <a:latin typeface="Times New Roman" panose="02020603050405020304" pitchFamily="18" charset="0"/>
                <a:cs typeface="Times New Roman" panose="02020603050405020304" pitchFamily="18" charset="0"/>
              </a:rPr>
              <a:t>Operating System: Windows</a:t>
            </a:r>
          </a:p>
          <a:p>
            <a:r>
              <a:rPr lang="en-IN" sz="2200" dirty="0">
                <a:latin typeface="Times New Roman" panose="02020603050405020304" pitchFamily="18" charset="0"/>
                <a:cs typeface="Times New Roman" panose="02020603050405020304" pitchFamily="18" charset="0"/>
              </a:rPr>
              <a:t>Programming Language: Python</a:t>
            </a:r>
          </a:p>
          <a:p>
            <a:r>
              <a:rPr lang="en-IN" sz="2200" dirty="0">
                <a:latin typeface="Times New Roman" panose="02020603050405020304" pitchFamily="18" charset="0"/>
                <a:cs typeface="Times New Roman" panose="02020603050405020304" pitchFamily="18" charset="0"/>
              </a:rPr>
              <a:t>Development Environment: VS Code</a:t>
            </a:r>
          </a:p>
          <a:p>
            <a:r>
              <a:rPr lang="en-IN" sz="2200" dirty="0">
                <a:latin typeface="Times New Roman" panose="02020603050405020304" pitchFamily="18" charset="0"/>
                <a:cs typeface="Times New Roman" panose="02020603050405020304" pitchFamily="18" charset="0"/>
              </a:rPr>
              <a:t>Libraries:</a:t>
            </a:r>
          </a:p>
          <a:p>
            <a:pPr lvl="1"/>
            <a:r>
              <a:rPr lang="en-IN" sz="2200" dirty="0">
                <a:latin typeface="Times New Roman" panose="02020603050405020304" pitchFamily="18" charset="0"/>
                <a:cs typeface="Times New Roman" panose="02020603050405020304" pitchFamily="18" charset="0"/>
              </a:rPr>
              <a:t>NumPy</a:t>
            </a:r>
          </a:p>
          <a:p>
            <a:pPr lvl="1"/>
            <a:r>
              <a:rPr lang="en-IN" sz="2200" dirty="0">
                <a:latin typeface="Times New Roman" panose="02020603050405020304" pitchFamily="18" charset="0"/>
                <a:cs typeface="Times New Roman" panose="02020603050405020304" pitchFamily="18" charset="0"/>
              </a:rPr>
              <a:t>Pandas</a:t>
            </a:r>
          </a:p>
          <a:p>
            <a:pPr lvl="1"/>
            <a:r>
              <a:rPr lang="en-IN" sz="2200" dirty="0">
                <a:latin typeface="Times New Roman" panose="02020603050405020304" pitchFamily="18" charset="0"/>
                <a:cs typeface="Times New Roman" panose="02020603050405020304" pitchFamily="18" charset="0"/>
              </a:rPr>
              <a:t>Scikit-learn</a:t>
            </a:r>
          </a:p>
          <a:p>
            <a:pPr lvl="1"/>
            <a:r>
              <a:rPr lang="en-IN" sz="2200" dirty="0">
                <a:latin typeface="Times New Roman" panose="02020603050405020304" pitchFamily="18" charset="0"/>
                <a:cs typeface="Times New Roman" panose="02020603050405020304" pitchFamily="18" charset="0"/>
              </a:rPr>
              <a:t>Matplotlib</a:t>
            </a:r>
          </a:p>
          <a:p>
            <a:pPr lvl="1"/>
            <a:r>
              <a:rPr lang="en-IN" sz="2200" dirty="0">
                <a:latin typeface="Times New Roman" panose="02020603050405020304" pitchFamily="18" charset="0"/>
                <a:cs typeface="Times New Roman" panose="02020603050405020304" pitchFamily="18" charset="0"/>
              </a:rPr>
              <a:t>Seaborn</a:t>
            </a:r>
          </a:p>
          <a:p>
            <a:pPr lvl="1"/>
            <a:r>
              <a:rPr lang="en-IN" sz="2200" dirty="0">
                <a:latin typeface="Times New Roman" panose="02020603050405020304" pitchFamily="18" charset="0"/>
                <a:cs typeface="Times New Roman" panose="02020603050405020304" pitchFamily="18" charset="0"/>
              </a:rPr>
              <a:t>Transformers (Hugging Face)</a:t>
            </a:r>
          </a:p>
          <a:p>
            <a:r>
              <a:rPr lang="en-IN" sz="2200" dirty="0">
                <a:latin typeface="Times New Roman" panose="02020603050405020304" pitchFamily="18" charset="0"/>
                <a:cs typeface="Times New Roman" panose="02020603050405020304" pitchFamily="18" charset="0"/>
              </a:rPr>
              <a:t>Frameworks: streamlit</a:t>
            </a:r>
          </a:p>
          <a:p>
            <a:r>
              <a:rPr lang="en-IN" sz="2200" dirty="0">
                <a:latin typeface="Times New Roman" panose="02020603050405020304" pitchFamily="18" charset="0"/>
                <a:cs typeface="Times New Roman" panose="02020603050405020304" pitchFamily="18" charset="0"/>
              </a:rPr>
              <a:t>Dataset Source: Cyberbullying text datasets</a:t>
            </a:r>
          </a:p>
          <a:p>
            <a:pPr marL="0" indent="0">
              <a:buNone/>
            </a:pPr>
            <a:r>
              <a:rPr lang="en-IN" sz="2200" dirty="0">
                <a:latin typeface="Times New Roman" panose="02020603050405020304" pitchFamily="18" charset="0"/>
                <a:cs typeface="Times New Roman" panose="02020603050405020304" pitchFamily="18" charset="0"/>
              </a:rPr>
              <a:t>   from online repositories like Kaggle.</a:t>
            </a:r>
          </a:p>
          <a:p>
            <a:pPr marL="0" indent="0">
              <a:buNone/>
            </a:pPr>
            <a:endParaRPr lang="en-IN" dirty="0"/>
          </a:p>
        </p:txBody>
      </p:sp>
      <p:sp>
        <p:nvSpPr>
          <p:cNvPr id="10" name="Text Placeholder 9">
            <a:extLst>
              <a:ext uri="{FF2B5EF4-FFF2-40B4-BE49-F238E27FC236}">
                <a16:creationId xmlns:a16="http://schemas.microsoft.com/office/drawing/2014/main" id="{4B2CC423-1E90-5DDA-5F8C-1FE22C24FB4C}"/>
              </a:ext>
            </a:extLst>
          </p:cNvPr>
          <p:cNvSpPr>
            <a:spLocks noGrp="1"/>
          </p:cNvSpPr>
          <p:nvPr>
            <p:ph type="body" sz="quarter" idx="3"/>
          </p:nvPr>
        </p:nvSpPr>
        <p:spPr>
          <a:xfrm>
            <a:off x="6172199" y="1127125"/>
            <a:ext cx="5921375" cy="554038"/>
          </a:xfrm>
        </p:spPr>
        <p:txBody>
          <a:bodyPr/>
          <a:lstStyle/>
          <a:p>
            <a:r>
              <a:rPr lang="en-IN" u="sng" dirty="0">
                <a:latin typeface="Times New Roman" panose="02020603050405020304" pitchFamily="18" charset="0"/>
                <a:cs typeface="Times New Roman" panose="02020603050405020304" pitchFamily="18" charset="0"/>
              </a:rPr>
              <a:t>Hardware Requirements</a:t>
            </a:r>
          </a:p>
        </p:txBody>
      </p:sp>
      <p:sp>
        <p:nvSpPr>
          <p:cNvPr id="11" name="Content Placeholder 10">
            <a:extLst>
              <a:ext uri="{FF2B5EF4-FFF2-40B4-BE49-F238E27FC236}">
                <a16:creationId xmlns:a16="http://schemas.microsoft.com/office/drawing/2014/main" id="{F0724161-274B-9A1B-AE00-E9BD745272E5}"/>
              </a:ext>
            </a:extLst>
          </p:cNvPr>
          <p:cNvSpPr>
            <a:spLocks noGrp="1"/>
          </p:cNvSpPr>
          <p:nvPr>
            <p:ph sz="quarter" idx="4"/>
          </p:nvPr>
        </p:nvSpPr>
        <p:spPr>
          <a:xfrm>
            <a:off x="6172200" y="1681163"/>
            <a:ext cx="5921374" cy="4508500"/>
          </a:xfrm>
        </p:spPr>
        <p:txBody>
          <a:bodyPr>
            <a:normAutofit fontScale="92500" lnSpcReduction="10000"/>
          </a:bodyPr>
          <a:lstStyle/>
          <a:p>
            <a:pPr algn="just"/>
            <a:r>
              <a:rPr lang="en-IN" sz="2200" dirty="0">
                <a:latin typeface="Times New Roman" panose="02020603050405020304" pitchFamily="18" charset="0"/>
                <a:cs typeface="Times New Roman" panose="02020603050405020304" pitchFamily="18" charset="0"/>
              </a:rPr>
              <a:t>Processor: Intel Core i5 or higher</a:t>
            </a:r>
          </a:p>
          <a:p>
            <a:pPr algn="just"/>
            <a:r>
              <a:rPr lang="en-IN" sz="2200" dirty="0">
                <a:latin typeface="Times New Roman" panose="02020603050405020304" pitchFamily="18" charset="0"/>
                <a:cs typeface="Times New Roman" panose="02020603050405020304" pitchFamily="18" charset="0"/>
              </a:rPr>
              <a:t>RAM: Minimum 8 GB</a:t>
            </a:r>
          </a:p>
          <a:p>
            <a:pPr algn="just"/>
            <a:r>
              <a:rPr lang="en-IN" sz="2200" dirty="0">
                <a:latin typeface="Times New Roman" panose="02020603050405020304" pitchFamily="18" charset="0"/>
                <a:cs typeface="Times New Roman" panose="02020603050405020304" pitchFamily="18" charset="0"/>
              </a:rPr>
              <a:t>Storage: Minimum 256 GB Hard Disk / SSD</a:t>
            </a:r>
          </a:p>
          <a:p>
            <a:pPr algn="just"/>
            <a:r>
              <a:rPr lang="en-IN" sz="2200" dirty="0">
                <a:latin typeface="Times New Roman" panose="02020603050405020304" pitchFamily="18" charset="0"/>
                <a:cs typeface="Times New Roman" panose="02020603050405020304" pitchFamily="18" charset="0"/>
              </a:rPr>
              <a:t>GPU: Optional (for faster transformer model training)</a:t>
            </a:r>
          </a:p>
          <a:p>
            <a:pPr algn="just"/>
            <a:r>
              <a:rPr lang="en-IN" sz="2200" dirty="0">
                <a:latin typeface="Times New Roman" panose="02020603050405020304" pitchFamily="18" charset="0"/>
                <a:cs typeface="Times New Roman" panose="02020603050405020304" pitchFamily="18" charset="0"/>
              </a:rPr>
              <a:t>System Type: 64-bit architecture</a:t>
            </a:r>
          </a:p>
          <a:p>
            <a:pPr marL="0" indent="0">
              <a:buNone/>
            </a:pPr>
            <a:endParaRPr lang="en-IN" dirty="0"/>
          </a:p>
        </p:txBody>
      </p:sp>
      <p:sp>
        <p:nvSpPr>
          <p:cNvPr id="2" name="Footer Placeholder 1">
            <a:extLst>
              <a:ext uri="{FF2B5EF4-FFF2-40B4-BE49-F238E27FC236}">
                <a16:creationId xmlns:a16="http://schemas.microsoft.com/office/drawing/2014/main" id="{550F2A39-B7DB-A226-B058-24A9F2777661}"/>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D5E3F202-213B-255E-DE59-9A136C9314AC}"/>
              </a:ext>
            </a:extLst>
          </p:cNvPr>
          <p:cNvSpPr>
            <a:spLocks noGrp="1"/>
          </p:cNvSpPr>
          <p:nvPr>
            <p:ph type="sldNum" sz="quarter" idx="12"/>
          </p:nvPr>
        </p:nvSpPr>
        <p:spPr/>
        <p:txBody>
          <a:bodyPr/>
          <a:lstStyle/>
          <a:p>
            <a:fld id="{330EA680-D336-4FF7-8B7A-9848BB0A1C32}" type="slidenum">
              <a:rPr lang="en-US" smtClean="0"/>
              <a:t>20</a:t>
            </a:fld>
            <a:endParaRPr lang="en-US"/>
          </a:p>
        </p:txBody>
      </p:sp>
    </p:spTree>
    <p:extLst>
      <p:ext uri="{BB962C8B-B14F-4D97-AF65-F5344CB8AC3E}">
        <p14:creationId xmlns:p14="http://schemas.microsoft.com/office/powerpoint/2010/main" val="4070029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959178B-9ACC-8935-751D-8F17D3B97B34}"/>
              </a:ext>
            </a:extLst>
          </p:cNvPr>
          <p:cNvSpPr>
            <a:spLocks noGrp="1"/>
          </p:cNvSpPr>
          <p:nvPr>
            <p:ph type="title"/>
          </p:nvPr>
        </p:nvSpPr>
        <p:spPr>
          <a:xfrm>
            <a:off x="0" y="136525"/>
            <a:ext cx="12192000" cy="914399"/>
          </a:xfrm>
        </p:spPr>
        <p:txBody>
          <a:bodyPr>
            <a:normAutofit/>
          </a:bodyPr>
          <a:lstStyle/>
          <a:p>
            <a:r>
              <a:rPr lang="en-IN" dirty="0"/>
              <a:t> </a:t>
            </a:r>
            <a:r>
              <a:rPr lang="en-IN" sz="4800" dirty="0">
                <a:latin typeface="Times New Roman" panose="02020603050405020304" pitchFamily="18" charset="0"/>
                <a:cs typeface="Times New Roman" panose="02020603050405020304" pitchFamily="18" charset="0"/>
              </a:rPr>
              <a:t>9. </a:t>
            </a:r>
            <a:r>
              <a:rPr lang="en-IN" sz="4800" u="sng" dirty="0">
                <a:latin typeface="Times New Roman" panose="02020603050405020304" pitchFamily="18" charset="0"/>
                <a:cs typeface="Times New Roman" panose="02020603050405020304" pitchFamily="18" charset="0"/>
              </a:rPr>
              <a:t>SYSTEM ARCHITECTURE</a:t>
            </a:r>
          </a:p>
        </p:txBody>
      </p:sp>
      <p:sp>
        <p:nvSpPr>
          <p:cNvPr id="10" name="Content Placeholder 9">
            <a:extLst>
              <a:ext uri="{FF2B5EF4-FFF2-40B4-BE49-F238E27FC236}">
                <a16:creationId xmlns:a16="http://schemas.microsoft.com/office/drawing/2014/main" id="{7EBDE789-27A6-6E99-20B9-14B503DA21C9}"/>
              </a:ext>
            </a:extLst>
          </p:cNvPr>
          <p:cNvSpPr>
            <a:spLocks noGrp="1"/>
          </p:cNvSpPr>
          <p:nvPr>
            <p:ph idx="1"/>
          </p:nvPr>
        </p:nvSpPr>
        <p:spPr>
          <a:xfrm>
            <a:off x="76200" y="1066800"/>
            <a:ext cx="12039600" cy="5110163"/>
          </a:xfrm>
        </p:spPr>
        <p:txBody>
          <a:bodyPr>
            <a:normAutofit fontScale="85000" lnSpcReduction="20000"/>
          </a:bodyPr>
          <a:lstStyle/>
          <a:p>
            <a:pPr algn="just">
              <a:lnSpc>
                <a:spcPct val="120000"/>
              </a:lnSpc>
            </a:pPr>
            <a:r>
              <a:rPr lang="en-US" sz="2400" dirty="0">
                <a:latin typeface="Times New Roman" panose="02020603050405020304" pitchFamily="18" charset="0"/>
                <a:cs typeface="Times New Roman" panose="02020603050405020304" pitchFamily="18" charset="0"/>
              </a:rPr>
              <a:t>The proposed cyberbullying detection system follows a structured workflow that processes text data through several stages in order to accurately classify messages as cyberbullying or non-cyberbullying.</a:t>
            </a:r>
          </a:p>
          <a:p>
            <a:pPr algn="just">
              <a:lnSpc>
                <a:spcPct val="120000"/>
              </a:lnSpc>
            </a:pPr>
            <a:r>
              <a:rPr lang="en-US" sz="2400" dirty="0">
                <a:latin typeface="Times New Roman" panose="02020603050405020304" pitchFamily="18" charset="0"/>
                <a:cs typeface="Times New Roman" panose="02020603050405020304" pitchFamily="18" charset="0"/>
              </a:rPr>
              <a:t>First, the system collects a labeled dataset containing cyberbullying and non-cyberbullying messages. The collected data is then passed to the data preprocessing module, where text cleaning operations such as removing punctuation, converting text to lowercase, tokenization, and stop-word removal are performed.</a:t>
            </a:r>
          </a:p>
          <a:p>
            <a:pPr algn="just">
              <a:lnSpc>
                <a:spcPct val="120000"/>
              </a:lnSpc>
            </a:pPr>
            <a:r>
              <a:rPr lang="en-US" sz="2400" dirty="0">
                <a:latin typeface="Times New Roman" panose="02020603050405020304" pitchFamily="18" charset="0"/>
                <a:cs typeface="Times New Roman" panose="02020603050405020304" pitchFamily="18" charset="0"/>
              </a:rPr>
              <a:t>After preprocessing, the cleaned text is transformed into numerical representations through feature extraction techniques. </a:t>
            </a:r>
          </a:p>
          <a:p>
            <a:pPr algn="just">
              <a:lnSpc>
                <a:spcPct val="120000"/>
              </a:lnSpc>
            </a:pPr>
            <a:r>
              <a:rPr lang="en-US" sz="2400" dirty="0">
                <a:latin typeface="Times New Roman" panose="02020603050405020304" pitchFamily="18" charset="0"/>
                <a:cs typeface="Times New Roman" panose="02020603050405020304" pitchFamily="18" charset="0"/>
              </a:rPr>
              <a:t>For traditional machine learning models, TF-IDF feature extraction is used to convert text into feature vectors. For transformer-based models, tokenization and contextual embeddings are generated using the transformer tokenizer.</a:t>
            </a:r>
          </a:p>
          <a:p>
            <a:pPr algn="just">
              <a:lnSpc>
                <a:spcPct val="120000"/>
              </a:lnSpc>
            </a:pPr>
            <a:r>
              <a:rPr lang="en-US" sz="2400" dirty="0">
                <a:latin typeface="Times New Roman" panose="02020603050405020304" pitchFamily="18" charset="0"/>
                <a:cs typeface="Times New Roman" panose="02020603050405020304" pitchFamily="18" charset="0"/>
              </a:rPr>
              <a:t>The processed data is then used to train multiple machine learning models such as Logistic Regression, Naïve Bayes, and Support Vector Machine, as well as a transformer-based model (XLM-RoBERTa). Each model is trained independently and evaluated using performance metrics such as accuracy, precision, recall, and F1-score.</a:t>
            </a:r>
          </a:p>
          <a:p>
            <a:pPr algn="just">
              <a:lnSpc>
                <a:spcPct val="120000"/>
              </a:lnSpc>
            </a:pPr>
            <a:r>
              <a:rPr lang="en-US" sz="2400" dirty="0">
                <a:latin typeface="Times New Roman" panose="02020603050405020304" pitchFamily="18" charset="0"/>
                <a:cs typeface="Times New Roman" panose="02020603050405020304" pitchFamily="18" charset="0"/>
              </a:rPr>
              <a:t>Finally, the trained models are used in the prediction module, where user input text is analyzed and classified as cyberbullying or non-cyberbullying. The prediction result is then displayed through the user interface.</a:t>
            </a:r>
          </a:p>
          <a:p>
            <a:endParaRPr lang="en-IN" dirty="0"/>
          </a:p>
        </p:txBody>
      </p:sp>
      <p:sp>
        <p:nvSpPr>
          <p:cNvPr id="7" name="Footer Placeholder 6">
            <a:extLst>
              <a:ext uri="{FF2B5EF4-FFF2-40B4-BE49-F238E27FC236}">
                <a16:creationId xmlns:a16="http://schemas.microsoft.com/office/drawing/2014/main" id="{4DA6AA89-2ACF-ABE4-465E-172A21FB92A5}"/>
              </a:ext>
            </a:extLst>
          </p:cNvPr>
          <p:cNvSpPr>
            <a:spLocks noGrp="1"/>
          </p:cNvSpPr>
          <p:nvPr>
            <p:ph type="ftr" sz="quarter" idx="11"/>
          </p:nvPr>
        </p:nvSpPr>
        <p:spPr/>
        <p:txBody>
          <a:bodyPr/>
          <a:lstStyle/>
          <a:p>
            <a:r>
              <a:rPr lang="en-US" dirty="0"/>
              <a:t>A13</a:t>
            </a:r>
          </a:p>
        </p:txBody>
      </p:sp>
      <p:sp>
        <p:nvSpPr>
          <p:cNvPr id="8" name="Slide Number Placeholder 7">
            <a:extLst>
              <a:ext uri="{FF2B5EF4-FFF2-40B4-BE49-F238E27FC236}">
                <a16:creationId xmlns:a16="http://schemas.microsoft.com/office/drawing/2014/main" id="{E844F6DA-C6AD-1E11-02F1-5582603AD41A}"/>
              </a:ext>
            </a:extLst>
          </p:cNvPr>
          <p:cNvSpPr>
            <a:spLocks noGrp="1"/>
          </p:cNvSpPr>
          <p:nvPr>
            <p:ph type="sldNum" sz="quarter" idx="12"/>
          </p:nvPr>
        </p:nvSpPr>
        <p:spPr/>
        <p:txBody>
          <a:bodyPr/>
          <a:lstStyle/>
          <a:p>
            <a:fld id="{330EA680-D336-4FF7-8B7A-9848BB0A1C32}" type="slidenum">
              <a:rPr lang="en-US" smtClean="0"/>
              <a:t>21</a:t>
            </a:fld>
            <a:endParaRPr lang="en-US"/>
          </a:p>
        </p:txBody>
      </p:sp>
    </p:spTree>
    <p:extLst>
      <p:ext uri="{BB962C8B-B14F-4D97-AF65-F5344CB8AC3E}">
        <p14:creationId xmlns:p14="http://schemas.microsoft.com/office/powerpoint/2010/main" val="183958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FE94620-9055-9A59-AD95-AC9155E1C6B9}"/>
              </a:ext>
            </a:extLst>
          </p:cNvPr>
          <p:cNvSpPr>
            <a:spLocks noGrp="1"/>
          </p:cNvSpPr>
          <p:nvPr>
            <p:ph type="ftr" sz="quarter" idx="11"/>
          </p:nvPr>
        </p:nvSpPr>
        <p:spPr>
          <a:xfrm>
            <a:off x="4038600" y="6533276"/>
            <a:ext cx="4114800" cy="324723"/>
          </a:xfrm>
        </p:spPr>
        <p:txBody>
          <a:bodyPr/>
          <a:lstStyle/>
          <a:p>
            <a:r>
              <a:rPr lang="en-US" dirty="0"/>
              <a:t>A13</a:t>
            </a:r>
          </a:p>
        </p:txBody>
      </p:sp>
      <p:sp>
        <p:nvSpPr>
          <p:cNvPr id="3" name="Slide Number Placeholder 2">
            <a:extLst>
              <a:ext uri="{FF2B5EF4-FFF2-40B4-BE49-F238E27FC236}">
                <a16:creationId xmlns:a16="http://schemas.microsoft.com/office/drawing/2014/main" id="{F190401A-AED3-542C-15B0-E87E6E0FDC0F}"/>
              </a:ext>
            </a:extLst>
          </p:cNvPr>
          <p:cNvSpPr>
            <a:spLocks noGrp="1"/>
          </p:cNvSpPr>
          <p:nvPr>
            <p:ph type="sldNum" sz="quarter" idx="12"/>
          </p:nvPr>
        </p:nvSpPr>
        <p:spPr/>
        <p:txBody>
          <a:bodyPr/>
          <a:lstStyle/>
          <a:p>
            <a:fld id="{330EA680-D336-4FF7-8B7A-9848BB0A1C32}" type="slidenum">
              <a:rPr lang="en-US" smtClean="0"/>
              <a:t>22</a:t>
            </a:fld>
            <a:endParaRPr lang="en-US"/>
          </a:p>
        </p:txBody>
      </p:sp>
      <p:sp>
        <p:nvSpPr>
          <p:cNvPr id="5" name="Rectangle: Rounded Corners 4">
            <a:extLst>
              <a:ext uri="{FF2B5EF4-FFF2-40B4-BE49-F238E27FC236}">
                <a16:creationId xmlns:a16="http://schemas.microsoft.com/office/drawing/2014/main" id="{DAAE798E-5C2A-53B9-1D1B-4D4BC8FA7ADD}"/>
              </a:ext>
            </a:extLst>
          </p:cNvPr>
          <p:cNvSpPr/>
          <p:nvPr/>
        </p:nvSpPr>
        <p:spPr>
          <a:xfrm>
            <a:off x="478428" y="757130"/>
            <a:ext cx="3048000" cy="6096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Input</a:t>
            </a:r>
          </a:p>
          <a:p>
            <a:pPr algn="ctr"/>
            <a:r>
              <a:rPr lang="en-IN" dirty="0">
                <a:latin typeface="Times New Roman" panose="02020603050405020304" pitchFamily="18" charset="0"/>
                <a:cs typeface="Times New Roman" panose="02020603050405020304" pitchFamily="18" charset="0"/>
              </a:rPr>
              <a:t>Code-Mixed </a:t>
            </a:r>
            <a:r>
              <a:rPr lang="en-IN" sz="1600" dirty="0">
                <a:latin typeface="Times New Roman" panose="02020603050405020304" pitchFamily="18" charset="0"/>
                <a:cs typeface="Times New Roman" panose="02020603050405020304" pitchFamily="18" charset="0"/>
              </a:rPr>
              <a:t>Social</a:t>
            </a:r>
            <a:r>
              <a:rPr lang="en-IN" dirty="0">
                <a:latin typeface="Times New Roman" panose="02020603050405020304" pitchFamily="18" charset="0"/>
                <a:cs typeface="Times New Roman" panose="02020603050405020304" pitchFamily="18" charset="0"/>
              </a:rPr>
              <a:t> Media text</a:t>
            </a:r>
          </a:p>
        </p:txBody>
      </p:sp>
      <p:sp>
        <p:nvSpPr>
          <p:cNvPr id="6" name="Rectangle: Rounded Corners 5">
            <a:extLst>
              <a:ext uri="{FF2B5EF4-FFF2-40B4-BE49-F238E27FC236}">
                <a16:creationId xmlns:a16="http://schemas.microsoft.com/office/drawing/2014/main" id="{CA830C34-17E3-060B-B3A5-D4FBA8743F09}"/>
              </a:ext>
            </a:extLst>
          </p:cNvPr>
          <p:cNvSpPr/>
          <p:nvPr/>
        </p:nvSpPr>
        <p:spPr>
          <a:xfrm>
            <a:off x="592728" y="1588816"/>
            <a:ext cx="2819400" cy="9906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Text Preprocessing Module</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Cleaning</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Normalization</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Noise Removal</a:t>
            </a:r>
          </a:p>
        </p:txBody>
      </p:sp>
      <p:sp>
        <p:nvSpPr>
          <p:cNvPr id="7" name="Rectangle: Rounded Corners 6">
            <a:extLst>
              <a:ext uri="{FF2B5EF4-FFF2-40B4-BE49-F238E27FC236}">
                <a16:creationId xmlns:a16="http://schemas.microsoft.com/office/drawing/2014/main" id="{2F19BFC1-035B-02C3-29B5-3B3FC6E31406}"/>
              </a:ext>
            </a:extLst>
          </p:cNvPr>
          <p:cNvSpPr/>
          <p:nvPr/>
        </p:nvSpPr>
        <p:spPr>
          <a:xfrm>
            <a:off x="3977288" y="3013807"/>
            <a:ext cx="3271884" cy="740916"/>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en-IN" sz="1600" dirty="0">
                <a:latin typeface="Times New Roman" panose="02020603050405020304" pitchFamily="18" charset="0"/>
                <a:cs typeface="Times New Roman" panose="02020603050405020304" pitchFamily="18" charset="0"/>
              </a:rPr>
              <a:t>Multi-Aspect Labelling</a:t>
            </a:r>
          </a:p>
        </p:txBody>
      </p:sp>
      <p:sp>
        <p:nvSpPr>
          <p:cNvPr id="8" name="Rectangle: Rounded Corners 7">
            <a:extLst>
              <a:ext uri="{FF2B5EF4-FFF2-40B4-BE49-F238E27FC236}">
                <a16:creationId xmlns:a16="http://schemas.microsoft.com/office/drawing/2014/main" id="{1FEC25E3-42A4-FC50-8446-FA98B3648EF4}"/>
              </a:ext>
            </a:extLst>
          </p:cNvPr>
          <p:cNvSpPr/>
          <p:nvPr/>
        </p:nvSpPr>
        <p:spPr>
          <a:xfrm>
            <a:off x="3937652" y="5666724"/>
            <a:ext cx="3453747" cy="920015"/>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Feature Representation</a:t>
            </a:r>
          </a:p>
          <a:p>
            <a:pPr algn="ctr"/>
            <a:endParaRPr lang="en-IN" sz="1600" dirty="0">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26DC24E2-D136-19F8-926D-E2194BACFA22}"/>
              </a:ext>
            </a:extLst>
          </p:cNvPr>
          <p:cNvSpPr/>
          <p:nvPr/>
        </p:nvSpPr>
        <p:spPr>
          <a:xfrm>
            <a:off x="220478" y="5666724"/>
            <a:ext cx="3505200" cy="9144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Dataset Preparation Module</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Label Encoding</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Dataset Balancing(Undersampling)</a:t>
            </a:r>
          </a:p>
        </p:txBody>
      </p:sp>
      <p:sp>
        <p:nvSpPr>
          <p:cNvPr id="10" name="Rectangle: Rounded Corners 9">
            <a:extLst>
              <a:ext uri="{FF2B5EF4-FFF2-40B4-BE49-F238E27FC236}">
                <a16:creationId xmlns:a16="http://schemas.microsoft.com/office/drawing/2014/main" id="{861F291C-14B6-F491-D502-98E6EBD7D8C7}"/>
              </a:ext>
            </a:extLst>
          </p:cNvPr>
          <p:cNvSpPr/>
          <p:nvPr/>
        </p:nvSpPr>
        <p:spPr>
          <a:xfrm>
            <a:off x="4043865" y="6253229"/>
            <a:ext cx="1000587" cy="280047"/>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TF-IDF</a:t>
            </a:r>
          </a:p>
        </p:txBody>
      </p:sp>
      <p:sp>
        <p:nvSpPr>
          <p:cNvPr id="12" name="Rectangle: Rounded Corners 11">
            <a:extLst>
              <a:ext uri="{FF2B5EF4-FFF2-40B4-BE49-F238E27FC236}">
                <a16:creationId xmlns:a16="http://schemas.microsoft.com/office/drawing/2014/main" id="{F25E0BD5-BA85-2C43-3AA1-FB8CD207AFEA}"/>
              </a:ext>
            </a:extLst>
          </p:cNvPr>
          <p:cNvSpPr/>
          <p:nvPr/>
        </p:nvSpPr>
        <p:spPr>
          <a:xfrm>
            <a:off x="6028030" y="3466670"/>
            <a:ext cx="1166119" cy="251966"/>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Aggression</a:t>
            </a:r>
          </a:p>
        </p:txBody>
      </p:sp>
      <p:sp>
        <p:nvSpPr>
          <p:cNvPr id="13" name="Rectangle: Rounded Corners 12">
            <a:extLst>
              <a:ext uri="{FF2B5EF4-FFF2-40B4-BE49-F238E27FC236}">
                <a16:creationId xmlns:a16="http://schemas.microsoft.com/office/drawing/2014/main" id="{B64EE8DB-BDA8-D95C-CC43-92FCD5BE2F0C}"/>
              </a:ext>
            </a:extLst>
          </p:cNvPr>
          <p:cNvSpPr/>
          <p:nvPr/>
        </p:nvSpPr>
        <p:spPr>
          <a:xfrm>
            <a:off x="206919" y="2740722"/>
            <a:ext cx="3591017" cy="12954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Semantic Context Based Labelling</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Context Understanding</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Semi-Automatic Semantic Labelling</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Binary Labels(0/1)</a:t>
            </a:r>
          </a:p>
        </p:txBody>
      </p:sp>
      <p:sp>
        <p:nvSpPr>
          <p:cNvPr id="14" name="Rectangle: Rounded Corners 13">
            <a:extLst>
              <a:ext uri="{FF2B5EF4-FFF2-40B4-BE49-F238E27FC236}">
                <a16:creationId xmlns:a16="http://schemas.microsoft.com/office/drawing/2014/main" id="{BF6910C7-F158-4499-9284-28B366FFD248}"/>
              </a:ext>
            </a:extLst>
          </p:cNvPr>
          <p:cNvSpPr/>
          <p:nvPr/>
        </p:nvSpPr>
        <p:spPr>
          <a:xfrm>
            <a:off x="576227" y="4195870"/>
            <a:ext cx="2667000" cy="12954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Exploratory Data Analysis</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Correlation Matrix</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Heatmaps</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PDF Plots</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Box Plo</a:t>
            </a:r>
            <a:r>
              <a:rPr lang="en-IN" dirty="0"/>
              <a:t>t</a:t>
            </a:r>
          </a:p>
        </p:txBody>
      </p:sp>
      <p:sp>
        <p:nvSpPr>
          <p:cNvPr id="15" name="Rectangle: Rounded Corners 14">
            <a:extLst>
              <a:ext uri="{FF2B5EF4-FFF2-40B4-BE49-F238E27FC236}">
                <a16:creationId xmlns:a16="http://schemas.microsoft.com/office/drawing/2014/main" id="{109F2A06-073D-41B5-7BF5-026CB1172C99}"/>
              </a:ext>
            </a:extLst>
          </p:cNvPr>
          <p:cNvSpPr/>
          <p:nvPr/>
        </p:nvSpPr>
        <p:spPr>
          <a:xfrm>
            <a:off x="5044452" y="3463006"/>
            <a:ext cx="914400" cy="251966"/>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Harm</a:t>
            </a:r>
          </a:p>
        </p:txBody>
      </p:sp>
      <p:sp>
        <p:nvSpPr>
          <p:cNvPr id="16" name="Rectangle: Rounded Corners 15">
            <a:extLst>
              <a:ext uri="{FF2B5EF4-FFF2-40B4-BE49-F238E27FC236}">
                <a16:creationId xmlns:a16="http://schemas.microsoft.com/office/drawing/2014/main" id="{E43C4137-4952-9704-D307-7094BADCFA5C}"/>
              </a:ext>
            </a:extLst>
          </p:cNvPr>
          <p:cNvSpPr/>
          <p:nvPr/>
        </p:nvSpPr>
        <p:spPr>
          <a:xfrm>
            <a:off x="5090914" y="6253229"/>
            <a:ext cx="2214794" cy="260021"/>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Contextual Embeddings</a:t>
            </a:r>
          </a:p>
        </p:txBody>
      </p:sp>
      <p:sp>
        <p:nvSpPr>
          <p:cNvPr id="17" name="Rectangle: Rounded Corners 16">
            <a:extLst>
              <a:ext uri="{FF2B5EF4-FFF2-40B4-BE49-F238E27FC236}">
                <a16:creationId xmlns:a16="http://schemas.microsoft.com/office/drawing/2014/main" id="{EB738F29-8355-A4FE-8020-AD4E4F7203EB}"/>
              </a:ext>
            </a:extLst>
          </p:cNvPr>
          <p:cNvSpPr/>
          <p:nvPr/>
        </p:nvSpPr>
        <p:spPr>
          <a:xfrm>
            <a:off x="4072902" y="3475539"/>
            <a:ext cx="914400" cy="251966"/>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Intent</a:t>
            </a:r>
          </a:p>
        </p:txBody>
      </p:sp>
      <p:sp>
        <p:nvSpPr>
          <p:cNvPr id="18" name="Rectangle: Rounded Corners 17">
            <a:extLst>
              <a:ext uri="{FF2B5EF4-FFF2-40B4-BE49-F238E27FC236}">
                <a16:creationId xmlns:a16="http://schemas.microsoft.com/office/drawing/2014/main" id="{37D85545-742D-8266-0676-ECA3899EB366}"/>
              </a:ext>
            </a:extLst>
          </p:cNvPr>
          <p:cNvSpPr/>
          <p:nvPr/>
        </p:nvSpPr>
        <p:spPr>
          <a:xfrm>
            <a:off x="8822676" y="1855742"/>
            <a:ext cx="2057400" cy="1245494"/>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Evaluation Metrics</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Accuracy</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Precision</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Recall</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F1-Score</a:t>
            </a:r>
          </a:p>
        </p:txBody>
      </p:sp>
      <p:sp>
        <p:nvSpPr>
          <p:cNvPr id="19" name="Rectangle: Rounded Corners 18">
            <a:extLst>
              <a:ext uri="{FF2B5EF4-FFF2-40B4-BE49-F238E27FC236}">
                <a16:creationId xmlns:a16="http://schemas.microsoft.com/office/drawing/2014/main" id="{E17D9D91-AB08-104B-79E2-28704DE4C224}"/>
              </a:ext>
            </a:extLst>
          </p:cNvPr>
          <p:cNvSpPr/>
          <p:nvPr/>
        </p:nvSpPr>
        <p:spPr>
          <a:xfrm>
            <a:off x="3696073" y="4217379"/>
            <a:ext cx="4741255" cy="1171989"/>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en-IN" sz="1600" dirty="0">
                <a:latin typeface="Times New Roman" panose="02020603050405020304" pitchFamily="18" charset="0"/>
                <a:cs typeface="Times New Roman" panose="02020603050405020304" pitchFamily="18" charset="0"/>
              </a:rPr>
              <a:t>Model Training</a:t>
            </a:r>
          </a:p>
        </p:txBody>
      </p:sp>
      <p:sp>
        <p:nvSpPr>
          <p:cNvPr id="20" name="Rectangle: Rounded Corners 19">
            <a:extLst>
              <a:ext uri="{FF2B5EF4-FFF2-40B4-BE49-F238E27FC236}">
                <a16:creationId xmlns:a16="http://schemas.microsoft.com/office/drawing/2014/main" id="{4E1B7F14-5B51-BC26-8B80-122021DFC25B}"/>
              </a:ext>
            </a:extLst>
          </p:cNvPr>
          <p:cNvSpPr/>
          <p:nvPr/>
        </p:nvSpPr>
        <p:spPr>
          <a:xfrm>
            <a:off x="3803322" y="4637949"/>
            <a:ext cx="2549185" cy="686732"/>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Logistic Regression</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 Vector Machine</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Navie Bayes</a:t>
            </a:r>
          </a:p>
        </p:txBody>
      </p:sp>
      <p:sp>
        <p:nvSpPr>
          <p:cNvPr id="21" name="Rectangle: Rounded Corners 20">
            <a:extLst>
              <a:ext uri="{FF2B5EF4-FFF2-40B4-BE49-F238E27FC236}">
                <a16:creationId xmlns:a16="http://schemas.microsoft.com/office/drawing/2014/main" id="{3E61C1EE-76DA-1F3F-2101-40C9C3B6C490}"/>
              </a:ext>
            </a:extLst>
          </p:cNvPr>
          <p:cNvSpPr/>
          <p:nvPr/>
        </p:nvSpPr>
        <p:spPr>
          <a:xfrm>
            <a:off x="6420496" y="4652974"/>
            <a:ext cx="1941806" cy="686732"/>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MuRIL</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mDeBERTa</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XLM-</a:t>
            </a:r>
            <a:r>
              <a:rPr lang="en-IN" sz="1600" dirty="0" err="1">
                <a:latin typeface="Times New Roman" panose="02020603050405020304" pitchFamily="18" charset="0"/>
                <a:cs typeface="Times New Roman" panose="02020603050405020304" pitchFamily="18" charset="0"/>
              </a:rPr>
              <a:t>RoBERTa</a:t>
            </a:r>
            <a:endParaRPr lang="en-IN" sz="1600" dirty="0">
              <a:latin typeface="Times New Roman" panose="02020603050405020304" pitchFamily="18" charset="0"/>
              <a:cs typeface="Times New Roman" panose="02020603050405020304" pitchFamily="18" charset="0"/>
            </a:endParaRPr>
          </a:p>
        </p:txBody>
      </p:sp>
      <p:sp>
        <p:nvSpPr>
          <p:cNvPr id="24" name="Rectangle: Rounded Corners 23">
            <a:extLst>
              <a:ext uri="{FF2B5EF4-FFF2-40B4-BE49-F238E27FC236}">
                <a16:creationId xmlns:a16="http://schemas.microsoft.com/office/drawing/2014/main" id="{9DD24F11-0582-6DB4-381F-C115D1CDF239}"/>
              </a:ext>
            </a:extLst>
          </p:cNvPr>
          <p:cNvSpPr/>
          <p:nvPr/>
        </p:nvSpPr>
        <p:spPr>
          <a:xfrm>
            <a:off x="8949145" y="4190116"/>
            <a:ext cx="1828800" cy="9144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Output Prediction</a:t>
            </a:r>
          </a:p>
          <a:p>
            <a:pPr algn="ctr"/>
            <a:r>
              <a:rPr lang="en-IN" sz="1600" dirty="0">
                <a:latin typeface="Times New Roman" panose="02020603050405020304" pitchFamily="18" charset="0"/>
                <a:cs typeface="Times New Roman" panose="02020603050405020304" pitchFamily="18" charset="0"/>
              </a:rPr>
              <a:t>Cyberbullying/Not Cyberbullying</a:t>
            </a:r>
          </a:p>
        </p:txBody>
      </p:sp>
      <p:cxnSp>
        <p:nvCxnSpPr>
          <p:cNvPr id="31" name="Straight Arrow Connector 30">
            <a:extLst>
              <a:ext uri="{FF2B5EF4-FFF2-40B4-BE49-F238E27FC236}">
                <a16:creationId xmlns:a16="http://schemas.microsoft.com/office/drawing/2014/main" id="{A6FE78CE-142E-3CDE-1E44-CE0C82715315}"/>
              </a:ext>
            </a:extLst>
          </p:cNvPr>
          <p:cNvCxnSpPr>
            <a:cxnSpLocks/>
            <a:stCxn id="5" idx="2"/>
            <a:endCxn id="6" idx="0"/>
          </p:cNvCxnSpPr>
          <p:nvPr/>
        </p:nvCxnSpPr>
        <p:spPr>
          <a:xfrm>
            <a:off x="2002428" y="1366730"/>
            <a:ext cx="0" cy="2220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1AD1285D-0128-C18A-74B9-1AC82E8511FB}"/>
              </a:ext>
            </a:extLst>
          </p:cNvPr>
          <p:cNvCxnSpPr>
            <a:cxnSpLocks/>
            <a:stCxn id="6" idx="2"/>
          </p:cNvCxnSpPr>
          <p:nvPr/>
        </p:nvCxnSpPr>
        <p:spPr>
          <a:xfrm>
            <a:off x="2002428" y="2579416"/>
            <a:ext cx="0" cy="1619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70A6A500-B57B-BB1E-526A-8D919A0A8C1B}"/>
              </a:ext>
            </a:extLst>
          </p:cNvPr>
          <p:cNvCxnSpPr>
            <a:endCxn id="14" idx="0"/>
          </p:cNvCxnSpPr>
          <p:nvPr/>
        </p:nvCxnSpPr>
        <p:spPr>
          <a:xfrm>
            <a:off x="1985927" y="4038600"/>
            <a:ext cx="0" cy="1756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5A0DAFC3-32F4-83BD-4C4A-BEA4D8AC0493}"/>
              </a:ext>
            </a:extLst>
          </p:cNvPr>
          <p:cNvCxnSpPr>
            <a:cxnSpLocks/>
          </p:cNvCxnSpPr>
          <p:nvPr/>
        </p:nvCxnSpPr>
        <p:spPr>
          <a:xfrm>
            <a:off x="1997185" y="5489266"/>
            <a:ext cx="0" cy="17745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9B6675AF-35BF-CE38-9F20-EA15CA2F0E93}"/>
              </a:ext>
            </a:extLst>
          </p:cNvPr>
          <p:cNvCxnSpPr>
            <a:cxnSpLocks/>
            <a:stCxn id="7" idx="1"/>
            <a:endCxn id="13" idx="3"/>
          </p:cNvCxnSpPr>
          <p:nvPr/>
        </p:nvCxnSpPr>
        <p:spPr>
          <a:xfrm flipH="1">
            <a:off x="3797936" y="3384265"/>
            <a:ext cx="179352" cy="415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2D3B90C6-7657-6E74-6219-26C091EFED2C}"/>
              </a:ext>
            </a:extLst>
          </p:cNvPr>
          <p:cNvCxnSpPr>
            <a:cxnSpLocks/>
            <a:stCxn id="9" idx="3"/>
            <a:endCxn id="8" idx="1"/>
          </p:cNvCxnSpPr>
          <p:nvPr/>
        </p:nvCxnSpPr>
        <p:spPr>
          <a:xfrm>
            <a:off x="3725678" y="6123924"/>
            <a:ext cx="211974" cy="280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57EB9AF8-D00C-D09B-BE3F-2635A9D4728C}"/>
              </a:ext>
            </a:extLst>
          </p:cNvPr>
          <p:cNvCxnSpPr>
            <a:cxnSpLocks/>
            <a:stCxn id="8" idx="0"/>
          </p:cNvCxnSpPr>
          <p:nvPr/>
        </p:nvCxnSpPr>
        <p:spPr>
          <a:xfrm flipV="1">
            <a:off x="5664526" y="5389368"/>
            <a:ext cx="0" cy="2773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Connector 45">
            <a:extLst>
              <a:ext uri="{FF2B5EF4-FFF2-40B4-BE49-F238E27FC236}">
                <a16:creationId xmlns:a16="http://schemas.microsoft.com/office/drawing/2014/main" id="{E9EBF0CE-BF22-6DE3-0782-928F35D4CA13}"/>
              </a:ext>
            </a:extLst>
          </p:cNvPr>
          <p:cNvCxnSpPr>
            <a:cxnSpLocks/>
            <a:stCxn id="19" idx="3"/>
          </p:cNvCxnSpPr>
          <p:nvPr/>
        </p:nvCxnSpPr>
        <p:spPr>
          <a:xfrm flipV="1">
            <a:off x="8437328" y="4803373"/>
            <a:ext cx="168918" cy="1"/>
          </a:xfrm>
          <a:prstGeom prst="line">
            <a:avLst/>
          </a:prstGeom>
        </p:spPr>
        <p:style>
          <a:lnRef idx="2">
            <a:schemeClr val="dk1"/>
          </a:lnRef>
          <a:fillRef idx="0">
            <a:schemeClr val="dk1"/>
          </a:fillRef>
          <a:effectRef idx="1">
            <a:schemeClr val="dk1"/>
          </a:effectRef>
          <a:fontRef idx="minor">
            <a:schemeClr val="tx1"/>
          </a:fontRef>
        </p:style>
      </p:cxnSp>
      <p:cxnSp>
        <p:nvCxnSpPr>
          <p:cNvPr id="48" name="Straight Connector 47">
            <a:extLst>
              <a:ext uri="{FF2B5EF4-FFF2-40B4-BE49-F238E27FC236}">
                <a16:creationId xmlns:a16="http://schemas.microsoft.com/office/drawing/2014/main" id="{8390044B-259F-F207-E249-0DA095FFD6CA}"/>
              </a:ext>
            </a:extLst>
          </p:cNvPr>
          <p:cNvCxnSpPr>
            <a:cxnSpLocks/>
          </p:cNvCxnSpPr>
          <p:nvPr/>
        </p:nvCxnSpPr>
        <p:spPr>
          <a:xfrm flipV="1">
            <a:off x="8606246" y="2478489"/>
            <a:ext cx="0" cy="2331781"/>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Arrow Connector 55">
            <a:extLst>
              <a:ext uri="{FF2B5EF4-FFF2-40B4-BE49-F238E27FC236}">
                <a16:creationId xmlns:a16="http://schemas.microsoft.com/office/drawing/2014/main" id="{042F0625-8A24-C487-A51A-3964BCA6C0CE}"/>
              </a:ext>
            </a:extLst>
          </p:cNvPr>
          <p:cNvCxnSpPr>
            <a:cxnSpLocks/>
            <a:endCxn id="18" idx="1"/>
          </p:cNvCxnSpPr>
          <p:nvPr/>
        </p:nvCxnSpPr>
        <p:spPr>
          <a:xfrm>
            <a:off x="8606246" y="2478489"/>
            <a:ext cx="21643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a:extLst>
              <a:ext uri="{FF2B5EF4-FFF2-40B4-BE49-F238E27FC236}">
                <a16:creationId xmlns:a16="http://schemas.microsoft.com/office/drawing/2014/main" id="{56D2DBCF-FA61-C52D-7F34-CFB24C4B2FD2}"/>
              </a:ext>
            </a:extLst>
          </p:cNvPr>
          <p:cNvCxnSpPr>
            <a:cxnSpLocks/>
            <a:stCxn id="18" idx="2"/>
          </p:cNvCxnSpPr>
          <p:nvPr/>
        </p:nvCxnSpPr>
        <p:spPr>
          <a:xfrm>
            <a:off x="9851376" y="3101236"/>
            <a:ext cx="0" cy="3277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9" name="TextBox 78">
            <a:extLst>
              <a:ext uri="{FF2B5EF4-FFF2-40B4-BE49-F238E27FC236}">
                <a16:creationId xmlns:a16="http://schemas.microsoft.com/office/drawing/2014/main" id="{8F900411-61F5-D82C-F843-99359E3A6CF5}"/>
              </a:ext>
            </a:extLst>
          </p:cNvPr>
          <p:cNvSpPr txBox="1"/>
          <p:nvPr/>
        </p:nvSpPr>
        <p:spPr>
          <a:xfrm>
            <a:off x="0" y="-62822"/>
            <a:ext cx="12191999"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 </a:t>
            </a:r>
            <a:r>
              <a:rPr lang="en-IN" sz="4400" u="sng" dirty="0">
                <a:latin typeface="Times New Roman" panose="02020603050405020304" pitchFamily="18" charset="0"/>
                <a:cs typeface="Times New Roman" panose="02020603050405020304" pitchFamily="18" charset="0"/>
              </a:rPr>
              <a:t>Architecture</a:t>
            </a:r>
          </a:p>
        </p:txBody>
      </p:sp>
      <p:sp>
        <p:nvSpPr>
          <p:cNvPr id="83" name="Rectangle: Rounded Corners 82">
            <a:extLst>
              <a:ext uri="{FF2B5EF4-FFF2-40B4-BE49-F238E27FC236}">
                <a16:creationId xmlns:a16="http://schemas.microsoft.com/office/drawing/2014/main" id="{D704B321-4DCF-19C3-3DC3-ADD88ECD4FC5}"/>
              </a:ext>
            </a:extLst>
          </p:cNvPr>
          <p:cNvSpPr/>
          <p:nvPr/>
        </p:nvSpPr>
        <p:spPr>
          <a:xfrm>
            <a:off x="9060913" y="3412912"/>
            <a:ext cx="1580925" cy="4572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Enter any Text</a:t>
            </a:r>
          </a:p>
        </p:txBody>
      </p:sp>
      <p:cxnSp>
        <p:nvCxnSpPr>
          <p:cNvPr id="85" name="Straight Arrow Connector 84">
            <a:extLst>
              <a:ext uri="{FF2B5EF4-FFF2-40B4-BE49-F238E27FC236}">
                <a16:creationId xmlns:a16="http://schemas.microsoft.com/office/drawing/2014/main" id="{0DDF0A3B-430B-C17A-B608-E292A5BC7E1A}"/>
              </a:ext>
            </a:extLst>
          </p:cNvPr>
          <p:cNvCxnSpPr>
            <a:cxnSpLocks/>
            <a:stCxn id="83" idx="2"/>
            <a:endCxn id="24" idx="0"/>
          </p:cNvCxnSpPr>
          <p:nvPr/>
        </p:nvCxnSpPr>
        <p:spPr>
          <a:xfrm>
            <a:off x="9851376" y="3870112"/>
            <a:ext cx="12169" cy="3200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10715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64593-2385-09D4-58DC-1C29385A0D3D}"/>
              </a:ext>
            </a:extLst>
          </p:cNvPr>
          <p:cNvSpPr>
            <a:spLocks noGrp="1"/>
          </p:cNvSpPr>
          <p:nvPr>
            <p:ph type="title"/>
          </p:nvPr>
        </p:nvSpPr>
        <p:spPr>
          <a:xfrm>
            <a:off x="0" y="136525"/>
            <a:ext cx="12192000" cy="930275"/>
          </a:xfrm>
        </p:spPr>
        <p:txBody>
          <a:bodyPr>
            <a:normAutofit/>
          </a:bodyPr>
          <a:lstStyle/>
          <a:p>
            <a:r>
              <a:rPr lang="en-IN" sz="4800" dirty="0">
                <a:latin typeface="Times New Roman" panose="02020603050405020304" pitchFamily="18" charset="0"/>
                <a:cs typeface="Times New Roman" panose="02020603050405020304" pitchFamily="18" charset="0"/>
              </a:rPr>
              <a:t>10. </a:t>
            </a:r>
            <a:r>
              <a:rPr lang="en-IN" sz="4800" u="sng" dirty="0">
                <a:latin typeface="Times New Roman" panose="02020603050405020304" pitchFamily="18" charset="0"/>
                <a:cs typeface="Times New Roman" panose="02020603050405020304" pitchFamily="18" charset="0"/>
              </a:rPr>
              <a:t>MODULES DESCRIPTION</a:t>
            </a:r>
          </a:p>
        </p:txBody>
      </p:sp>
      <p:sp>
        <p:nvSpPr>
          <p:cNvPr id="5" name="Content Placeholder 4">
            <a:extLst>
              <a:ext uri="{FF2B5EF4-FFF2-40B4-BE49-F238E27FC236}">
                <a16:creationId xmlns:a16="http://schemas.microsoft.com/office/drawing/2014/main" id="{94C2FAC1-427D-F977-C4A1-F4D5EA0C2DC9}"/>
              </a:ext>
            </a:extLst>
          </p:cNvPr>
          <p:cNvSpPr>
            <a:spLocks noGrp="1"/>
          </p:cNvSpPr>
          <p:nvPr>
            <p:ph idx="1"/>
          </p:nvPr>
        </p:nvSpPr>
        <p:spPr>
          <a:xfrm>
            <a:off x="76200" y="1143000"/>
            <a:ext cx="12039600" cy="5334000"/>
          </a:xfrm>
        </p:spPr>
        <p:txBody>
          <a:bodyPr>
            <a:normAutofit fontScale="25000" lnSpcReduction="20000"/>
          </a:bodyPr>
          <a:lstStyle/>
          <a:p>
            <a:pPr algn="just">
              <a:lnSpc>
                <a:spcPct val="120000"/>
              </a:lnSpc>
            </a:pPr>
            <a:r>
              <a:rPr lang="en-US" sz="9600" b="1" dirty="0">
                <a:latin typeface="Times New Roman" panose="02020603050405020304" pitchFamily="18" charset="0"/>
                <a:cs typeface="Times New Roman" panose="02020603050405020304" pitchFamily="18" charset="0"/>
              </a:rPr>
              <a:t>Data Collection Module</a:t>
            </a:r>
          </a:p>
          <a:p>
            <a:pPr marL="457200" lvl="1" indent="0" algn="just">
              <a:lnSpc>
                <a:spcPct val="120000"/>
              </a:lnSpc>
              <a:buNone/>
            </a:pPr>
            <a:r>
              <a:rPr lang="en-US" sz="7200" dirty="0">
                <a:latin typeface="Times New Roman" panose="02020603050405020304" pitchFamily="18" charset="0"/>
                <a:cs typeface="Times New Roman" panose="02020603050405020304" pitchFamily="18" charset="0"/>
              </a:rPr>
              <a:t>             </a:t>
            </a:r>
            <a:r>
              <a:rPr lang="en-US" sz="8000" dirty="0">
                <a:latin typeface="Times New Roman" panose="02020603050405020304" pitchFamily="18" charset="0"/>
                <a:cs typeface="Times New Roman" panose="02020603050405020304" pitchFamily="18" charset="0"/>
              </a:rPr>
              <a:t>This module is responsible for gathering the dataset required for cyberbullying detection. The dataset contains labeled text messages categorized as cyberbullying or non-cyberbullying. The collected data forms the foundation for training and evaluating the machine learning and transformer models.</a:t>
            </a:r>
          </a:p>
          <a:p>
            <a:pPr algn="just">
              <a:lnSpc>
                <a:spcPct val="120000"/>
              </a:lnSpc>
            </a:pPr>
            <a:r>
              <a:rPr lang="en-US" sz="9600" b="1" dirty="0">
                <a:latin typeface="Times New Roman" panose="02020603050405020304" pitchFamily="18" charset="0"/>
                <a:cs typeface="Times New Roman" panose="02020603050405020304" pitchFamily="18" charset="0"/>
              </a:rPr>
              <a:t>Data Preprocessing Module</a:t>
            </a:r>
          </a:p>
          <a:p>
            <a:pPr marL="457200" lvl="1" indent="0" algn="just">
              <a:lnSpc>
                <a:spcPct val="120000"/>
              </a:lnSpc>
              <a:buNone/>
            </a:pPr>
            <a:r>
              <a:rPr lang="en-US" sz="7600" dirty="0">
                <a:latin typeface="Times New Roman" panose="02020603050405020304" pitchFamily="18" charset="0"/>
                <a:cs typeface="Times New Roman" panose="02020603050405020304" pitchFamily="18" charset="0"/>
              </a:rPr>
              <a:t>             </a:t>
            </a:r>
            <a:r>
              <a:rPr lang="en-US" sz="8000" dirty="0">
                <a:latin typeface="Times New Roman" panose="02020603050405020304" pitchFamily="18" charset="0"/>
                <a:cs typeface="Times New Roman" panose="02020603050405020304" pitchFamily="18" charset="0"/>
              </a:rPr>
              <a:t>In this module, the raw text data is cleaned and prepared for analysis. Preprocessing techniques such as converting text to lowercase, removing punctuation and special characters, removing stop words, and tokenization are performed. This step ensures that the text data is standardized and suitable for feature extraction and model training.</a:t>
            </a:r>
          </a:p>
          <a:p>
            <a:pPr algn="just">
              <a:lnSpc>
                <a:spcPct val="120000"/>
              </a:lnSpc>
            </a:pPr>
            <a:r>
              <a:rPr lang="en-US" sz="8400" b="1" dirty="0">
                <a:latin typeface="Times New Roman" panose="02020603050405020304" pitchFamily="18" charset="0"/>
                <a:cs typeface="Times New Roman" panose="02020603050405020304" pitchFamily="18" charset="0"/>
              </a:rPr>
              <a:t>Feature Extraction Module</a:t>
            </a:r>
          </a:p>
          <a:p>
            <a:pPr marL="457200" lvl="1" indent="0" algn="just">
              <a:lnSpc>
                <a:spcPct val="120000"/>
              </a:lnSpc>
              <a:buNone/>
            </a:pPr>
            <a:r>
              <a:rPr lang="en-US" sz="7600" dirty="0">
                <a:latin typeface="Times New Roman" panose="02020603050405020304" pitchFamily="18" charset="0"/>
                <a:cs typeface="Times New Roman" panose="02020603050405020304" pitchFamily="18" charset="0"/>
              </a:rPr>
              <a:t>             The feature extraction module converts textual data into numerical representations that machine learning models can understand. Techniques such as TF-IDF (Term Frequency–Inverse Document Frequency) are used to transform the processed text into feature vectors. For transformer models, tokenization and contextual embeddings are generated.</a:t>
            </a:r>
          </a:p>
          <a:p>
            <a:pPr marL="0" indent="0" algn="just">
              <a:lnSpc>
                <a:spcPct val="120000"/>
              </a:lnSpc>
              <a:buNone/>
            </a:pPr>
            <a:endParaRPr lang="en-US" sz="8400" b="1" dirty="0">
              <a:latin typeface="Times New Roman" panose="02020603050405020304" pitchFamily="18" charset="0"/>
              <a:cs typeface="Times New Roman" panose="02020603050405020304" pitchFamily="18" charset="0"/>
            </a:endParaRPr>
          </a:p>
          <a:p>
            <a:pPr marL="0" indent="0" algn="just">
              <a:lnSpc>
                <a:spcPct val="120000"/>
              </a:lnSpc>
              <a:buNone/>
            </a:pPr>
            <a:r>
              <a:rPr lang="en-US" sz="8400" b="1" dirty="0">
                <a:latin typeface="Times New Roman" panose="02020603050405020304" pitchFamily="18" charset="0"/>
                <a:cs typeface="Times New Roman" panose="02020603050405020304" pitchFamily="18" charset="0"/>
              </a:rPr>
              <a:t>                   </a:t>
            </a:r>
          </a:p>
          <a:p>
            <a:pPr marL="457200" lvl="1" indent="0" algn="just">
              <a:lnSpc>
                <a:spcPct val="120000"/>
              </a:lnSpc>
              <a:buNone/>
            </a:pPr>
            <a:r>
              <a:rPr lang="en-US" sz="76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6985ACF1-A0F9-B934-6780-E459A80A083B}"/>
              </a:ext>
            </a:extLst>
          </p:cNvPr>
          <p:cNvSpPr>
            <a:spLocks noGrp="1"/>
          </p:cNvSpPr>
          <p:nvPr>
            <p:ph type="ftr" sz="quarter" idx="11"/>
          </p:nvPr>
        </p:nvSpPr>
        <p:spPr>
          <a:xfrm>
            <a:off x="4038600" y="6477000"/>
            <a:ext cx="4114800" cy="244475"/>
          </a:xfrm>
        </p:spPr>
        <p:txBody>
          <a:bodyPr/>
          <a:lstStyle/>
          <a:p>
            <a:r>
              <a:rPr lang="en-US" dirty="0"/>
              <a:t>A13</a:t>
            </a:r>
          </a:p>
        </p:txBody>
      </p:sp>
      <p:sp>
        <p:nvSpPr>
          <p:cNvPr id="3" name="Slide Number Placeholder 2">
            <a:extLst>
              <a:ext uri="{FF2B5EF4-FFF2-40B4-BE49-F238E27FC236}">
                <a16:creationId xmlns:a16="http://schemas.microsoft.com/office/drawing/2014/main" id="{2637D706-FD8C-9003-7933-488233E8B288}"/>
              </a:ext>
            </a:extLst>
          </p:cNvPr>
          <p:cNvSpPr>
            <a:spLocks noGrp="1"/>
          </p:cNvSpPr>
          <p:nvPr>
            <p:ph type="sldNum" sz="quarter" idx="12"/>
          </p:nvPr>
        </p:nvSpPr>
        <p:spPr/>
        <p:txBody>
          <a:bodyPr/>
          <a:lstStyle/>
          <a:p>
            <a:fld id="{330EA680-D336-4FF7-8B7A-9848BB0A1C32}" type="slidenum">
              <a:rPr lang="en-US" smtClean="0"/>
              <a:t>23</a:t>
            </a:fld>
            <a:endParaRPr lang="en-US"/>
          </a:p>
        </p:txBody>
      </p:sp>
    </p:spTree>
    <p:extLst>
      <p:ext uri="{BB962C8B-B14F-4D97-AF65-F5344CB8AC3E}">
        <p14:creationId xmlns:p14="http://schemas.microsoft.com/office/powerpoint/2010/main" val="1088203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061F348-DD9B-0515-3F5F-DA133CBA4B91}"/>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FAB260EB-0185-FD95-72A3-574625670829}"/>
              </a:ext>
            </a:extLst>
          </p:cNvPr>
          <p:cNvSpPr>
            <a:spLocks noGrp="1"/>
          </p:cNvSpPr>
          <p:nvPr>
            <p:ph type="sldNum" sz="quarter" idx="12"/>
          </p:nvPr>
        </p:nvSpPr>
        <p:spPr/>
        <p:txBody>
          <a:bodyPr/>
          <a:lstStyle/>
          <a:p>
            <a:fld id="{330EA680-D336-4FF7-8B7A-9848BB0A1C32}" type="slidenum">
              <a:rPr lang="en-US" smtClean="0"/>
              <a:t>24</a:t>
            </a:fld>
            <a:endParaRPr lang="en-US"/>
          </a:p>
        </p:txBody>
      </p:sp>
      <p:sp>
        <p:nvSpPr>
          <p:cNvPr id="6" name="TextBox 5">
            <a:extLst>
              <a:ext uri="{FF2B5EF4-FFF2-40B4-BE49-F238E27FC236}">
                <a16:creationId xmlns:a16="http://schemas.microsoft.com/office/drawing/2014/main" id="{E0185E86-016F-3E89-4B50-4EF650786AAF}"/>
              </a:ext>
            </a:extLst>
          </p:cNvPr>
          <p:cNvSpPr txBox="1"/>
          <p:nvPr/>
        </p:nvSpPr>
        <p:spPr>
          <a:xfrm>
            <a:off x="76200" y="136525"/>
            <a:ext cx="12039600" cy="4278094"/>
          </a:xfrm>
          <a:prstGeom prst="rect">
            <a:avLst/>
          </a:prstGeom>
          <a:noFill/>
        </p:spPr>
        <p:txBody>
          <a:bodyPr wrap="square" rtlCol="0">
            <a:spAutoFit/>
          </a:bodyPr>
          <a:lstStyle/>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Model Training Module</a:t>
            </a:r>
          </a:p>
          <a:p>
            <a:pPr lvl="1" algn="just"/>
            <a:r>
              <a:rPr lang="en-US" sz="2000" dirty="0">
                <a:latin typeface="Times New Roman" panose="02020603050405020304" pitchFamily="18" charset="0"/>
                <a:cs typeface="Times New Roman" panose="02020603050405020304" pitchFamily="18" charset="0"/>
              </a:rPr>
              <a:t>            This module trains multiple classification models using the prepared dataset. Traditional machine learning algorithms such as Logistic Regression, Naïve Bayes, and Support Vector Machine (SVM) are trained independently. In addition, a transformer-based models such as MuRIL, mDeBERTa, and XLM-RoBERTa) is fine-tuned to capture contextual relationships in the text.</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Model Evaluation Module</a:t>
            </a:r>
          </a:p>
          <a:p>
            <a:pPr lvl="1" algn="just"/>
            <a:r>
              <a:rPr lang="en-US" sz="2000" dirty="0">
                <a:latin typeface="Times New Roman" panose="02020603050405020304" pitchFamily="18" charset="0"/>
                <a:cs typeface="Times New Roman" panose="02020603050405020304" pitchFamily="18" charset="0"/>
              </a:rPr>
              <a:t>             In this module, the trained models are evaluated using performance metrics such as accuracy, precision, recall, and F1-score. Visualization techniques such as ROC curves and confusion matrices are used to analyze the performance of each model and compare their effectiveness.</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Prediction Module</a:t>
            </a:r>
          </a:p>
          <a:p>
            <a:pPr lvl="1" algn="just"/>
            <a:r>
              <a:rPr lang="en-US" sz="2000" dirty="0">
                <a:latin typeface="Times New Roman" panose="02020603050405020304" pitchFamily="18" charset="0"/>
                <a:cs typeface="Times New Roman" panose="02020603050405020304" pitchFamily="18" charset="0"/>
              </a:rPr>
              <a:t>             The prediction module uses the trained models to classify new user input messages. When a user enters a message, the system processes the text using the same preprocessing and feature extraction steps, and the model predicts whether the message contains cyberbullying content or not.</a:t>
            </a:r>
          </a:p>
        </p:txBody>
      </p:sp>
    </p:spTree>
    <p:extLst>
      <p:ext uri="{BB962C8B-B14F-4D97-AF65-F5344CB8AC3E}">
        <p14:creationId xmlns:p14="http://schemas.microsoft.com/office/powerpoint/2010/main" val="2584826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A52745-6339-820D-AC8A-59BD31E2C821}"/>
              </a:ext>
            </a:extLst>
          </p:cNvPr>
          <p:cNvSpPr>
            <a:spLocks noGrp="1"/>
          </p:cNvSpPr>
          <p:nvPr>
            <p:ph type="title"/>
          </p:nvPr>
        </p:nvSpPr>
        <p:spPr>
          <a:xfrm>
            <a:off x="0" y="136525"/>
            <a:ext cx="12192000" cy="777875"/>
          </a:xfrm>
        </p:spPr>
        <p:txBody>
          <a:bodyPr>
            <a:normAutofit/>
          </a:bodyPr>
          <a:lstStyle/>
          <a:p>
            <a:r>
              <a:rPr lang="en-IN" sz="4800" dirty="0">
                <a:latin typeface="Times New Roman" panose="02020603050405020304" pitchFamily="18" charset="0"/>
                <a:cs typeface="Times New Roman" panose="02020603050405020304" pitchFamily="18" charset="0"/>
              </a:rPr>
              <a:t> 11. </a:t>
            </a:r>
            <a:r>
              <a:rPr lang="en-IN" sz="4800" u="sng" dirty="0">
                <a:latin typeface="Times New Roman" panose="02020603050405020304" pitchFamily="18" charset="0"/>
                <a:cs typeface="Times New Roman" panose="02020603050405020304" pitchFamily="18" charset="0"/>
              </a:rPr>
              <a:t>METHODOLOGY</a:t>
            </a:r>
          </a:p>
        </p:txBody>
      </p:sp>
      <p:sp>
        <p:nvSpPr>
          <p:cNvPr id="5" name="Content Placeholder 4">
            <a:extLst>
              <a:ext uri="{FF2B5EF4-FFF2-40B4-BE49-F238E27FC236}">
                <a16:creationId xmlns:a16="http://schemas.microsoft.com/office/drawing/2014/main" id="{7E9E9677-AADA-7F8C-012C-C07CB02B7E97}"/>
              </a:ext>
            </a:extLst>
          </p:cNvPr>
          <p:cNvSpPr>
            <a:spLocks noGrp="1"/>
          </p:cNvSpPr>
          <p:nvPr>
            <p:ph idx="1"/>
          </p:nvPr>
        </p:nvSpPr>
        <p:spPr>
          <a:xfrm>
            <a:off x="76200" y="1066800"/>
            <a:ext cx="12039600" cy="5110163"/>
          </a:xfrm>
        </p:spPr>
        <p:txBody>
          <a:bodyPr>
            <a:noAutofit/>
          </a:bodyPr>
          <a:lstStyle/>
          <a:p>
            <a:pPr algn="just">
              <a:lnSpc>
                <a:spcPct val="100000"/>
              </a:lnSpc>
            </a:pPr>
            <a:r>
              <a:rPr lang="en-US" sz="2000" dirty="0">
                <a:latin typeface="Times New Roman" panose="02020603050405020304" pitchFamily="18" charset="0"/>
                <a:cs typeface="Times New Roman" panose="02020603050405020304" pitchFamily="18" charset="0"/>
              </a:rPr>
              <a:t>The proposed CrossTongueGuard system follows a systematic step-by-step approach to process text data and classify it as cyberbullying or non-cyberbullying. </a:t>
            </a:r>
          </a:p>
          <a:p>
            <a:pPr algn="just">
              <a:lnSpc>
                <a:spcPct val="100000"/>
              </a:lnSpc>
            </a:pPr>
            <a:r>
              <a:rPr lang="en-US" sz="2000" dirty="0">
                <a:latin typeface="Times New Roman" panose="02020603050405020304" pitchFamily="18" charset="0"/>
                <a:cs typeface="Times New Roman" panose="02020603050405020304" pitchFamily="18" charset="0"/>
              </a:rPr>
              <a:t>Initially, a labeled dataset containing cyberbullying and non-cyberbullying messages is collected from reliable sources. </a:t>
            </a:r>
          </a:p>
          <a:p>
            <a:pPr algn="just">
              <a:lnSpc>
                <a:spcPct val="100000"/>
              </a:lnSpc>
            </a:pPr>
            <a:r>
              <a:rPr lang="en-US" sz="2000" dirty="0">
                <a:latin typeface="Times New Roman" panose="02020603050405020304" pitchFamily="18" charset="0"/>
                <a:cs typeface="Times New Roman" panose="02020603050405020304" pitchFamily="18" charset="0"/>
              </a:rPr>
              <a:t>The text has extracted from the collected csv file and new csv file has been created. </a:t>
            </a:r>
          </a:p>
          <a:p>
            <a:pPr algn="just">
              <a:lnSpc>
                <a:spcPct val="100000"/>
              </a:lnSpc>
            </a:pPr>
            <a:r>
              <a:rPr lang="en-US" sz="2000" dirty="0">
                <a:latin typeface="Times New Roman" panose="02020603050405020304" pitchFamily="18" charset="0"/>
                <a:cs typeface="Times New Roman" panose="02020603050405020304" pitchFamily="18" charset="0"/>
              </a:rPr>
              <a:t>The dataset is then passed to the preprocessing stage, where the text is cleaned by converting it to lowercase, removing punctuation, eliminating stop words, and performing tokenization.</a:t>
            </a:r>
          </a:p>
          <a:p>
            <a:pPr algn="just">
              <a:lnSpc>
                <a:spcPct val="100000"/>
              </a:lnSpc>
            </a:pPr>
            <a:r>
              <a:rPr lang="en-US" sz="2000" dirty="0">
                <a:latin typeface="Times New Roman" panose="02020603050405020304" pitchFamily="18" charset="0"/>
                <a:cs typeface="Times New Roman" panose="02020603050405020304" pitchFamily="18" charset="0"/>
              </a:rPr>
              <a:t>After preprocessing, we used semantic AI assisted labelling in order to label the text whether it has intent, harm and aggression.</a:t>
            </a:r>
          </a:p>
          <a:p>
            <a:pPr algn="just">
              <a:lnSpc>
                <a:spcPct val="100000"/>
              </a:lnSpc>
            </a:pPr>
            <a:r>
              <a:rPr lang="en-US" sz="2000" dirty="0">
                <a:latin typeface="Times New Roman" panose="02020603050405020304" pitchFamily="18" charset="0"/>
                <a:cs typeface="Times New Roman" panose="02020603050405020304" pitchFamily="18" charset="0"/>
              </a:rPr>
              <a:t>And based on the labelling it is considered whether the text is cyberbullying or not.</a:t>
            </a:r>
          </a:p>
          <a:p>
            <a:pPr algn="just">
              <a:lnSpc>
                <a:spcPct val="100000"/>
              </a:lnSpc>
            </a:pPr>
            <a:r>
              <a:rPr lang="en-US" sz="2000" dirty="0">
                <a:latin typeface="Times New Roman" panose="02020603050405020304" pitchFamily="18" charset="0"/>
                <a:cs typeface="Times New Roman" panose="02020603050405020304" pitchFamily="18" charset="0"/>
              </a:rPr>
              <a:t>Now the labelled dataset is transformed into numerical representations using feature extraction techniques. </a:t>
            </a:r>
          </a:p>
          <a:p>
            <a:pPr algn="just">
              <a:lnSpc>
                <a:spcPct val="100000"/>
              </a:lnSpc>
            </a:pPr>
            <a:r>
              <a:rPr lang="en-US" sz="2000" dirty="0">
                <a:latin typeface="Times New Roman" panose="02020603050405020304" pitchFamily="18" charset="0"/>
                <a:cs typeface="Times New Roman" panose="02020603050405020304" pitchFamily="18" charset="0"/>
              </a:rPr>
              <a:t>For traditional machine learning models, TF-IDF is used to convert text into feature vectors. For transformer models, tokenization and contextual embeddings are generated using the transformer tokenizer.</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BC719D2D-50FE-2600-D09F-0A19BCFFAFB0}"/>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83AF891C-5D63-EAA9-350E-F6F1F4BE7E3E}"/>
              </a:ext>
            </a:extLst>
          </p:cNvPr>
          <p:cNvSpPr>
            <a:spLocks noGrp="1"/>
          </p:cNvSpPr>
          <p:nvPr>
            <p:ph type="sldNum" sz="quarter" idx="12"/>
          </p:nvPr>
        </p:nvSpPr>
        <p:spPr/>
        <p:txBody>
          <a:bodyPr/>
          <a:lstStyle/>
          <a:p>
            <a:fld id="{330EA680-D336-4FF7-8B7A-9848BB0A1C32}" type="slidenum">
              <a:rPr lang="en-US" smtClean="0"/>
              <a:t>25</a:t>
            </a:fld>
            <a:endParaRPr lang="en-US"/>
          </a:p>
        </p:txBody>
      </p:sp>
    </p:spTree>
    <p:extLst>
      <p:ext uri="{BB962C8B-B14F-4D97-AF65-F5344CB8AC3E}">
        <p14:creationId xmlns:p14="http://schemas.microsoft.com/office/powerpoint/2010/main" val="38019179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36B5060-23AC-9AB9-D59F-5F2D7DF97B65}"/>
              </a:ext>
            </a:extLst>
          </p:cNvPr>
          <p:cNvSpPr>
            <a:spLocks noGrp="1"/>
          </p:cNvSpPr>
          <p:nvPr>
            <p:ph type="ftr" sz="quarter" idx="11"/>
          </p:nvPr>
        </p:nvSpPr>
        <p:spPr>
          <a:xfrm>
            <a:off x="4038600" y="6356350"/>
            <a:ext cx="4114800" cy="501650"/>
          </a:xfrm>
        </p:spPr>
        <p:txBody>
          <a:bodyPr/>
          <a:lstStyle/>
          <a:p>
            <a:r>
              <a:rPr lang="en-US" dirty="0"/>
              <a:t>A13</a:t>
            </a:r>
          </a:p>
        </p:txBody>
      </p:sp>
      <p:sp>
        <p:nvSpPr>
          <p:cNvPr id="3" name="Slide Number Placeholder 2">
            <a:extLst>
              <a:ext uri="{FF2B5EF4-FFF2-40B4-BE49-F238E27FC236}">
                <a16:creationId xmlns:a16="http://schemas.microsoft.com/office/drawing/2014/main" id="{18A04699-2AF8-C129-2B94-097415C621C0}"/>
              </a:ext>
            </a:extLst>
          </p:cNvPr>
          <p:cNvSpPr>
            <a:spLocks noGrp="1"/>
          </p:cNvSpPr>
          <p:nvPr>
            <p:ph type="sldNum" sz="quarter" idx="12"/>
          </p:nvPr>
        </p:nvSpPr>
        <p:spPr/>
        <p:txBody>
          <a:bodyPr/>
          <a:lstStyle/>
          <a:p>
            <a:fld id="{330EA680-D336-4FF7-8B7A-9848BB0A1C32}" type="slidenum">
              <a:rPr lang="en-US" smtClean="0"/>
              <a:t>26</a:t>
            </a:fld>
            <a:endParaRPr lang="en-US"/>
          </a:p>
        </p:txBody>
      </p:sp>
      <p:sp>
        <p:nvSpPr>
          <p:cNvPr id="4" name="TextBox 3">
            <a:extLst>
              <a:ext uri="{FF2B5EF4-FFF2-40B4-BE49-F238E27FC236}">
                <a16:creationId xmlns:a16="http://schemas.microsoft.com/office/drawing/2014/main" id="{D2C46131-2018-F126-A995-C6E8B354BB66}"/>
              </a:ext>
            </a:extLst>
          </p:cNvPr>
          <p:cNvSpPr txBox="1"/>
          <p:nvPr/>
        </p:nvSpPr>
        <p:spPr>
          <a:xfrm>
            <a:off x="76200" y="136525"/>
            <a:ext cx="11963400" cy="6309420"/>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processed data is then used to train multiple models independently. Machine learning algorithms such as Logistic Regression, Naïve Bayes, and Support Vector Machine are trained using the TF-IDF features.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parallel, a transformer-based model such as MuRIL, mDeBERTa and XLM-</a:t>
            </a:r>
            <a:r>
              <a:rPr lang="en-US" sz="2000" dirty="0" err="1">
                <a:latin typeface="Times New Roman" panose="02020603050405020304" pitchFamily="18" charset="0"/>
                <a:cs typeface="Times New Roman" panose="02020603050405020304" pitchFamily="18" charset="0"/>
              </a:rPr>
              <a:t>RoBERTa</a:t>
            </a:r>
            <a:r>
              <a:rPr lang="en-US" sz="2000" dirty="0">
                <a:latin typeface="Times New Roman" panose="02020603050405020304" pitchFamily="18" charset="0"/>
                <a:cs typeface="Times New Roman" panose="02020603050405020304" pitchFamily="18" charset="0"/>
              </a:rPr>
              <a:t> are fine-tuned using tokenized text data to capture contextual meaning.</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Once training is completed, all models are evaluated using performance metrics such as accuracy, precision, recall, and F1-score.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results of each model are compared to identify the best-performing model for cyberbullying detection. Finally, in the prediction phase, user input text is processed and classified using the trained models, and the result is displayed through the user interface.</a:t>
            </a:r>
          </a:p>
          <a:p>
            <a:endParaRPr lang="en-IN" sz="2000" dirty="0"/>
          </a:p>
          <a:p>
            <a:r>
              <a:rPr lang="en-IN" sz="2400" b="1" u="sng" dirty="0">
                <a:latin typeface="Times New Roman" panose="02020603050405020304" pitchFamily="18" charset="0"/>
                <a:cs typeface="Times New Roman" panose="02020603050405020304" pitchFamily="18" charset="0"/>
              </a:rPr>
              <a:t>Workflow</a:t>
            </a:r>
            <a:r>
              <a:rPr lang="en-IN" sz="2400" b="1"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Dataset collection</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Text preprocessing</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Multi aspect annotation </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Feature extraction (TF-IDF / Tokenization)</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Model training (ML models + Transformer model)</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Model evaluation (Accuracy, Precision, Recall, F1-score)</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Model comparison</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Prediction of user input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Display result in user interface</a:t>
            </a:r>
          </a:p>
        </p:txBody>
      </p:sp>
    </p:spTree>
    <p:extLst>
      <p:ext uri="{BB962C8B-B14F-4D97-AF65-F5344CB8AC3E}">
        <p14:creationId xmlns:p14="http://schemas.microsoft.com/office/powerpoint/2010/main" val="25994511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33B30-A7B5-17C9-A5C2-395B701293F0}"/>
              </a:ext>
            </a:extLst>
          </p:cNvPr>
          <p:cNvSpPr>
            <a:spLocks noGrp="1"/>
          </p:cNvSpPr>
          <p:nvPr>
            <p:ph type="title"/>
          </p:nvPr>
        </p:nvSpPr>
        <p:spPr>
          <a:xfrm>
            <a:off x="0" y="136525"/>
            <a:ext cx="12192000" cy="625475"/>
          </a:xfrm>
        </p:spPr>
        <p:txBody>
          <a:bodyPr>
            <a:normAutofit fontScale="90000"/>
          </a:bodyPr>
          <a:lstStyle/>
          <a:p>
            <a:r>
              <a:rPr lang="en-IN" dirty="0"/>
              <a:t> </a:t>
            </a:r>
            <a:r>
              <a:rPr lang="en-IN" sz="5300" dirty="0">
                <a:latin typeface="Times New Roman" panose="02020603050405020304" pitchFamily="18" charset="0"/>
                <a:cs typeface="Times New Roman" panose="02020603050405020304" pitchFamily="18" charset="0"/>
              </a:rPr>
              <a:t>12. </a:t>
            </a:r>
            <a:r>
              <a:rPr lang="en-IN" sz="5300" u="sng" dirty="0">
                <a:latin typeface="Times New Roman" panose="02020603050405020304" pitchFamily="18" charset="0"/>
                <a:cs typeface="Times New Roman" panose="02020603050405020304" pitchFamily="18" charset="0"/>
              </a:rPr>
              <a:t>TOOLS AND TECHNOLOGIES USED</a:t>
            </a:r>
          </a:p>
        </p:txBody>
      </p:sp>
      <p:sp>
        <p:nvSpPr>
          <p:cNvPr id="3" name="Content Placeholder 2">
            <a:extLst>
              <a:ext uri="{FF2B5EF4-FFF2-40B4-BE49-F238E27FC236}">
                <a16:creationId xmlns:a16="http://schemas.microsoft.com/office/drawing/2014/main" id="{DA565448-8C88-2495-8A22-551AC7927FD4}"/>
              </a:ext>
            </a:extLst>
          </p:cNvPr>
          <p:cNvSpPr>
            <a:spLocks noGrp="1"/>
          </p:cNvSpPr>
          <p:nvPr>
            <p:ph idx="1"/>
          </p:nvPr>
        </p:nvSpPr>
        <p:spPr>
          <a:xfrm>
            <a:off x="76200" y="1066800"/>
            <a:ext cx="12039600" cy="5110163"/>
          </a:xfrm>
        </p:spPr>
        <p:txBody>
          <a:bodyPr>
            <a:normAutofit fontScale="25000" lnSpcReduction="20000"/>
          </a:bodyPr>
          <a:lstStyle/>
          <a:p>
            <a:r>
              <a:rPr lang="en-IN" sz="8000" b="1" dirty="0">
                <a:latin typeface="Times New Roman" panose="02020603050405020304" pitchFamily="18" charset="0"/>
                <a:cs typeface="Times New Roman" panose="02020603050405020304" pitchFamily="18" charset="0"/>
              </a:rPr>
              <a:t>Programming Language</a:t>
            </a:r>
          </a:p>
          <a:p>
            <a:pPr marL="0" indent="0">
              <a:buNone/>
            </a:pPr>
            <a:r>
              <a:rPr lang="en-IN" sz="8000" b="1" dirty="0">
                <a:latin typeface="Times New Roman" panose="02020603050405020304" pitchFamily="18" charset="0"/>
                <a:cs typeface="Times New Roman" panose="02020603050405020304" pitchFamily="18" charset="0"/>
              </a:rPr>
              <a:t>    Python : </a:t>
            </a:r>
            <a:r>
              <a:rPr lang="en-IN" sz="8000" dirty="0">
                <a:latin typeface="Times New Roman" panose="02020603050405020304" pitchFamily="18" charset="0"/>
                <a:cs typeface="Times New Roman" panose="02020603050405020304" pitchFamily="18" charset="0"/>
              </a:rPr>
              <a:t>Used for implementing data preprocessing, model training, and prediction.</a:t>
            </a:r>
          </a:p>
          <a:p>
            <a:r>
              <a:rPr lang="en-IN" sz="8000" b="1" dirty="0">
                <a:latin typeface="Times New Roman" panose="02020603050405020304" pitchFamily="18" charset="0"/>
                <a:cs typeface="Times New Roman" panose="02020603050405020304" pitchFamily="18" charset="0"/>
              </a:rPr>
              <a:t>Development Tools</a:t>
            </a:r>
          </a:p>
          <a:p>
            <a:pPr marL="0" indent="0">
              <a:buNone/>
            </a:pPr>
            <a:r>
              <a:rPr lang="en-IN" sz="8000" dirty="0">
                <a:latin typeface="Times New Roman" panose="02020603050405020304" pitchFamily="18" charset="0"/>
                <a:cs typeface="Times New Roman" panose="02020603050405020304" pitchFamily="18" charset="0"/>
              </a:rPr>
              <a:t>    </a:t>
            </a:r>
            <a:r>
              <a:rPr lang="en-IN" sz="8000" b="1" dirty="0">
                <a:latin typeface="Times New Roman" panose="02020603050405020304" pitchFamily="18" charset="0"/>
                <a:cs typeface="Times New Roman" panose="02020603050405020304" pitchFamily="18" charset="0"/>
              </a:rPr>
              <a:t>VS Code</a:t>
            </a:r>
            <a:r>
              <a:rPr lang="en-IN" sz="8000" dirty="0">
                <a:latin typeface="Times New Roman" panose="02020603050405020304" pitchFamily="18" charset="0"/>
                <a:cs typeface="Times New Roman" panose="02020603050405020304" pitchFamily="18" charset="0"/>
              </a:rPr>
              <a:t> – for coding and project integration</a:t>
            </a:r>
          </a:p>
          <a:p>
            <a:r>
              <a:rPr lang="en-IN" sz="8000" b="1" dirty="0">
                <a:latin typeface="Times New Roman" panose="02020603050405020304" pitchFamily="18" charset="0"/>
                <a:cs typeface="Times New Roman" panose="02020603050405020304" pitchFamily="18" charset="0"/>
              </a:rPr>
              <a:t>Libraries and Frameworks</a:t>
            </a:r>
          </a:p>
          <a:p>
            <a:pPr marL="0" indent="0" algn="just">
              <a:buNone/>
            </a:pPr>
            <a:r>
              <a:rPr lang="en-IN" sz="8000" b="1" dirty="0">
                <a:latin typeface="Times New Roman" panose="02020603050405020304" pitchFamily="18" charset="0"/>
                <a:cs typeface="Times New Roman" panose="02020603050405020304" pitchFamily="18" charset="0"/>
              </a:rPr>
              <a:t>   NumPy</a:t>
            </a:r>
            <a:r>
              <a:rPr lang="en-IN" sz="8000" dirty="0">
                <a:latin typeface="Times New Roman" panose="02020603050405020304" pitchFamily="18" charset="0"/>
                <a:cs typeface="Times New Roman" panose="02020603050405020304" pitchFamily="18" charset="0"/>
              </a:rPr>
              <a:t> – numerical computations</a:t>
            </a:r>
          </a:p>
          <a:p>
            <a:pPr marL="0" indent="0" algn="just">
              <a:buNone/>
            </a:pPr>
            <a:r>
              <a:rPr lang="en-IN" sz="8000" b="1" dirty="0">
                <a:latin typeface="Times New Roman" panose="02020603050405020304" pitchFamily="18" charset="0"/>
                <a:cs typeface="Times New Roman" panose="02020603050405020304" pitchFamily="18" charset="0"/>
              </a:rPr>
              <a:t>   Pandas</a:t>
            </a:r>
            <a:r>
              <a:rPr lang="en-IN" sz="8000" dirty="0">
                <a:latin typeface="Times New Roman" panose="02020603050405020304" pitchFamily="18" charset="0"/>
                <a:cs typeface="Times New Roman" panose="02020603050405020304" pitchFamily="18" charset="0"/>
              </a:rPr>
              <a:t> – data handling and preprocessing</a:t>
            </a:r>
          </a:p>
          <a:p>
            <a:pPr marL="0" indent="0" algn="just">
              <a:buNone/>
            </a:pPr>
            <a:r>
              <a:rPr lang="en-IN" sz="8000" b="1" dirty="0">
                <a:latin typeface="Times New Roman" panose="02020603050405020304" pitchFamily="18" charset="0"/>
                <a:cs typeface="Times New Roman" panose="02020603050405020304" pitchFamily="18" charset="0"/>
              </a:rPr>
              <a:t>   Scikit-learn</a:t>
            </a:r>
            <a:r>
              <a:rPr lang="en-IN" sz="8000" dirty="0">
                <a:latin typeface="Times New Roman" panose="02020603050405020304" pitchFamily="18" charset="0"/>
                <a:cs typeface="Times New Roman" panose="02020603050405020304" pitchFamily="18" charset="0"/>
              </a:rPr>
              <a:t> – machine learning algorithms (LR, NB, SVM)</a:t>
            </a:r>
          </a:p>
          <a:p>
            <a:pPr marL="0" indent="0" algn="just">
              <a:buNone/>
            </a:pPr>
            <a:r>
              <a:rPr lang="en-IN" sz="8000" b="1" dirty="0">
                <a:latin typeface="Times New Roman" panose="02020603050405020304" pitchFamily="18" charset="0"/>
                <a:cs typeface="Times New Roman" panose="02020603050405020304" pitchFamily="18" charset="0"/>
              </a:rPr>
              <a:t>   Matplotlib</a:t>
            </a:r>
            <a:r>
              <a:rPr lang="en-IN" sz="8000" dirty="0">
                <a:latin typeface="Times New Roman" panose="02020603050405020304" pitchFamily="18" charset="0"/>
                <a:cs typeface="Times New Roman" panose="02020603050405020304" pitchFamily="18" charset="0"/>
              </a:rPr>
              <a:t> – data visualization</a:t>
            </a:r>
          </a:p>
          <a:p>
            <a:pPr marL="0" indent="0" algn="just">
              <a:buNone/>
            </a:pPr>
            <a:r>
              <a:rPr lang="en-IN" sz="8000" b="1" dirty="0">
                <a:latin typeface="Times New Roman" panose="02020603050405020304" pitchFamily="18" charset="0"/>
                <a:cs typeface="Times New Roman" panose="02020603050405020304" pitchFamily="18" charset="0"/>
              </a:rPr>
              <a:t>   Seaborn</a:t>
            </a:r>
            <a:r>
              <a:rPr lang="en-IN" sz="8000" dirty="0">
                <a:latin typeface="Times New Roman" panose="02020603050405020304" pitchFamily="18" charset="0"/>
                <a:cs typeface="Times New Roman" panose="02020603050405020304" pitchFamily="18" charset="0"/>
              </a:rPr>
              <a:t> – statistical visualization (graphs like boxplot, heatmap)</a:t>
            </a:r>
          </a:p>
          <a:p>
            <a:pPr marL="0" indent="0" algn="just">
              <a:buNone/>
            </a:pPr>
            <a:r>
              <a:rPr lang="en-IN" sz="8000" b="1" dirty="0">
                <a:latin typeface="Times New Roman" panose="02020603050405020304" pitchFamily="18" charset="0"/>
                <a:cs typeface="Times New Roman" panose="02020603050405020304" pitchFamily="18" charset="0"/>
              </a:rPr>
              <a:t>   NLTK</a:t>
            </a:r>
            <a:r>
              <a:rPr lang="en-IN" sz="8000" dirty="0">
                <a:latin typeface="Times New Roman" panose="02020603050405020304" pitchFamily="18" charset="0"/>
                <a:cs typeface="Times New Roman" panose="02020603050405020304" pitchFamily="18" charset="0"/>
              </a:rPr>
              <a:t> – text preprocessing (stopwords, tokenization)</a:t>
            </a:r>
          </a:p>
          <a:p>
            <a:pPr marL="0" indent="0" algn="just">
              <a:buNone/>
            </a:pPr>
            <a:r>
              <a:rPr lang="en-IN" sz="8000" b="1" dirty="0">
                <a:latin typeface="Times New Roman" panose="02020603050405020304" pitchFamily="18" charset="0"/>
                <a:cs typeface="Times New Roman" panose="02020603050405020304" pitchFamily="18" charset="0"/>
              </a:rPr>
              <a:t>   Transformers (HuggingFace)</a:t>
            </a:r>
            <a:r>
              <a:rPr lang="en-IN" sz="8000" dirty="0">
                <a:latin typeface="Times New Roman" panose="02020603050405020304" pitchFamily="18" charset="0"/>
                <a:cs typeface="Times New Roman" panose="02020603050405020304" pitchFamily="18" charset="0"/>
              </a:rPr>
              <a:t> – for transformer models like XLM-RoBERTa, mDeBERTa and MuRIL.</a:t>
            </a:r>
          </a:p>
          <a:p>
            <a:pPr marL="0" indent="0" algn="just">
              <a:buNone/>
            </a:pPr>
            <a:r>
              <a:rPr lang="en-IN" sz="8000" b="1" dirty="0">
                <a:latin typeface="Times New Roman" panose="02020603050405020304" pitchFamily="18" charset="0"/>
                <a:cs typeface="Times New Roman" panose="02020603050405020304" pitchFamily="18" charset="0"/>
              </a:rPr>
              <a:t>   PyTorch / TensorFlow</a:t>
            </a:r>
            <a:r>
              <a:rPr lang="en-IN" sz="8000" dirty="0">
                <a:latin typeface="Times New Roman" panose="02020603050405020304" pitchFamily="18" charset="0"/>
                <a:cs typeface="Times New Roman" panose="02020603050405020304" pitchFamily="18" charset="0"/>
              </a:rPr>
              <a:t> – for deep learning model training</a:t>
            </a:r>
          </a:p>
          <a:p>
            <a:pPr marL="0" indent="0">
              <a:buNone/>
            </a:pPr>
            <a:endParaRPr lang="en-IN" sz="8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DF22D58-3E0D-B3B2-8DBF-08FC7A3B8B9A}"/>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C5BA7D76-D466-0906-2922-D210E84BF97D}"/>
              </a:ext>
            </a:extLst>
          </p:cNvPr>
          <p:cNvSpPr>
            <a:spLocks noGrp="1"/>
          </p:cNvSpPr>
          <p:nvPr>
            <p:ph type="sldNum" sz="quarter" idx="12"/>
          </p:nvPr>
        </p:nvSpPr>
        <p:spPr/>
        <p:txBody>
          <a:bodyPr/>
          <a:lstStyle/>
          <a:p>
            <a:fld id="{330EA680-D336-4FF7-8B7A-9848BB0A1C32}" type="slidenum">
              <a:rPr lang="en-US" smtClean="0"/>
              <a:t>27</a:t>
            </a:fld>
            <a:endParaRPr lang="en-US"/>
          </a:p>
        </p:txBody>
      </p:sp>
    </p:spTree>
    <p:extLst>
      <p:ext uri="{BB962C8B-B14F-4D97-AF65-F5344CB8AC3E}">
        <p14:creationId xmlns:p14="http://schemas.microsoft.com/office/powerpoint/2010/main" val="17186050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E1A4F-19FE-7396-98D0-EB201310C32F}"/>
              </a:ext>
            </a:extLst>
          </p:cNvPr>
          <p:cNvSpPr>
            <a:spLocks noGrp="1"/>
          </p:cNvSpPr>
          <p:nvPr>
            <p:ph type="title"/>
          </p:nvPr>
        </p:nvSpPr>
        <p:spPr>
          <a:xfrm>
            <a:off x="0" y="76201"/>
            <a:ext cx="12192000" cy="838199"/>
          </a:xfrm>
        </p:spPr>
        <p:txBody>
          <a:bodyPr/>
          <a:lstStyle/>
          <a:p>
            <a:pPr algn="just"/>
            <a:r>
              <a:rPr lang="en-IN" dirty="0">
                <a:latin typeface="Times New Roman" panose="02020603050405020304" pitchFamily="18" charset="0"/>
                <a:cs typeface="Times New Roman" panose="02020603050405020304" pitchFamily="18" charset="0"/>
              </a:rPr>
              <a:t> </a:t>
            </a:r>
            <a:r>
              <a:rPr lang="en-IN" sz="4800" dirty="0">
                <a:latin typeface="Times New Roman" panose="02020603050405020304" pitchFamily="18" charset="0"/>
                <a:cs typeface="Times New Roman" panose="02020603050405020304" pitchFamily="18" charset="0"/>
              </a:rPr>
              <a:t>13. </a:t>
            </a:r>
            <a:r>
              <a:rPr lang="en-IN" sz="4800" u="sng" dirty="0">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79DDE9B8-D594-F792-1068-7A5F9F0AFCD1}"/>
              </a:ext>
            </a:extLst>
          </p:cNvPr>
          <p:cNvSpPr>
            <a:spLocks noGrp="1"/>
          </p:cNvSpPr>
          <p:nvPr>
            <p:ph idx="1"/>
          </p:nvPr>
        </p:nvSpPr>
        <p:spPr>
          <a:xfrm>
            <a:off x="76200" y="1066800"/>
            <a:ext cx="12039600" cy="5110163"/>
          </a:xfrm>
        </p:spPr>
        <p:txBody>
          <a:bodyPr>
            <a:normAutofit fontScale="25000" lnSpcReduction="20000"/>
          </a:bodyPr>
          <a:lstStyle/>
          <a:p>
            <a:pPr algn="just">
              <a:lnSpc>
                <a:spcPct val="120000"/>
              </a:lnSpc>
            </a:pPr>
            <a:r>
              <a:rPr lang="en-US" sz="8000" dirty="0">
                <a:latin typeface="Times New Roman" panose="02020603050405020304" pitchFamily="18" charset="0"/>
                <a:cs typeface="Times New Roman" panose="02020603050405020304" pitchFamily="18" charset="0"/>
              </a:rPr>
              <a:t>The proposed CrossTongueGuard system was implemented using Python and various machine learning and natural language processing libraries. </a:t>
            </a:r>
          </a:p>
          <a:p>
            <a:pPr algn="just">
              <a:lnSpc>
                <a:spcPct val="120000"/>
              </a:lnSpc>
            </a:pPr>
            <a:r>
              <a:rPr lang="en-US" sz="8000" dirty="0">
                <a:latin typeface="Times New Roman" panose="02020603050405020304" pitchFamily="18" charset="0"/>
                <a:cs typeface="Times New Roman" panose="02020603050405020304" pitchFamily="18" charset="0"/>
              </a:rPr>
              <a:t>The development process was carried out in multiple stages, including data preprocessing, feature extraction, model training, evaluation, and deployment through a user interface.</a:t>
            </a:r>
          </a:p>
          <a:p>
            <a:pPr algn="just">
              <a:lnSpc>
                <a:spcPct val="120000"/>
              </a:lnSpc>
            </a:pPr>
            <a:r>
              <a:rPr lang="en-US" sz="8000" dirty="0">
                <a:latin typeface="Times New Roman" panose="02020603050405020304" pitchFamily="18" charset="0"/>
                <a:cs typeface="Times New Roman" panose="02020603050405020304" pitchFamily="18" charset="0"/>
              </a:rPr>
              <a:t>Initially, the dataset containing labeled cyberbullying and non-cyberbullying text messages was loaded and analyzed. </a:t>
            </a:r>
          </a:p>
          <a:p>
            <a:pPr algn="just">
              <a:lnSpc>
                <a:spcPct val="120000"/>
              </a:lnSpc>
            </a:pPr>
            <a:r>
              <a:rPr lang="en-US" sz="8000" dirty="0">
                <a:latin typeface="Times New Roman" panose="02020603050405020304" pitchFamily="18" charset="0"/>
                <a:cs typeface="Times New Roman" panose="02020603050405020304" pitchFamily="18" charset="0"/>
              </a:rPr>
              <a:t>In the preprocessing stage, the text data was cleaned by converting it to lowercase, removing punctuation, special characters, and stop words, and performing tokenization. </a:t>
            </a:r>
          </a:p>
          <a:p>
            <a:pPr algn="just">
              <a:lnSpc>
                <a:spcPct val="120000"/>
              </a:lnSpc>
            </a:pPr>
            <a:r>
              <a:rPr lang="en-US" sz="8000" dirty="0">
                <a:latin typeface="Times New Roman" panose="02020603050405020304" pitchFamily="18" charset="0"/>
                <a:cs typeface="Times New Roman" panose="02020603050405020304" pitchFamily="18" charset="0"/>
              </a:rPr>
              <a:t>This step ensured that the text data was in a structured and consistent format suitable for further processing.</a:t>
            </a:r>
          </a:p>
          <a:p>
            <a:pPr algn="just">
              <a:lnSpc>
                <a:spcPct val="120000"/>
              </a:lnSpc>
            </a:pPr>
            <a:r>
              <a:rPr lang="en-US" sz="8000" dirty="0">
                <a:latin typeface="Times New Roman" panose="02020603050405020304" pitchFamily="18" charset="0"/>
                <a:cs typeface="Times New Roman" panose="02020603050405020304" pitchFamily="18" charset="0"/>
              </a:rPr>
              <a:t>After preprocessing, feature extraction techniques were applied. For machine learning models, TF-IDF vectorization was used to convert text into numerical feature vectors. </a:t>
            </a:r>
          </a:p>
          <a:p>
            <a:pPr algn="just">
              <a:lnSpc>
                <a:spcPct val="120000"/>
              </a:lnSpc>
            </a:pPr>
            <a:r>
              <a:rPr lang="en-US" sz="8000" dirty="0">
                <a:latin typeface="Times New Roman" panose="02020603050405020304" pitchFamily="18" charset="0"/>
                <a:cs typeface="Times New Roman" panose="02020603050405020304" pitchFamily="18" charset="0"/>
              </a:rPr>
              <a:t>For transformer models, tokenization and embeddings were generated using the XLM-RoBERTa, mDeBERTa and MuRIL tokenizer, which captures contextual information from multilingual text.</a:t>
            </a:r>
          </a:p>
          <a:p>
            <a:pPr marL="0" indent="0" algn="just">
              <a:lnSpc>
                <a:spcPct val="120000"/>
              </a:lnSpc>
              <a:buNone/>
            </a:pPr>
            <a:r>
              <a:rPr lang="en-US" sz="3600" dirty="0">
                <a:latin typeface="Times New Roman" panose="02020603050405020304" pitchFamily="18" charset="0"/>
                <a:cs typeface="Times New Roman" panose="02020603050405020304" pitchFamily="18" charset="0"/>
              </a:rPr>
              <a:t> </a:t>
            </a:r>
          </a:p>
          <a:p>
            <a:endParaRPr lang="en-IN" dirty="0"/>
          </a:p>
        </p:txBody>
      </p:sp>
      <p:sp>
        <p:nvSpPr>
          <p:cNvPr id="4" name="Footer Placeholder 3">
            <a:extLst>
              <a:ext uri="{FF2B5EF4-FFF2-40B4-BE49-F238E27FC236}">
                <a16:creationId xmlns:a16="http://schemas.microsoft.com/office/drawing/2014/main" id="{6209C073-932D-B68D-9DC6-78010AEE3A6D}"/>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BF0C6DC8-2385-E06C-FB00-6B200FE1ACBA}"/>
              </a:ext>
            </a:extLst>
          </p:cNvPr>
          <p:cNvSpPr>
            <a:spLocks noGrp="1"/>
          </p:cNvSpPr>
          <p:nvPr>
            <p:ph type="sldNum" sz="quarter" idx="12"/>
          </p:nvPr>
        </p:nvSpPr>
        <p:spPr/>
        <p:txBody>
          <a:bodyPr/>
          <a:lstStyle/>
          <a:p>
            <a:fld id="{330EA680-D336-4FF7-8B7A-9848BB0A1C32}" type="slidenum">
              <a:rPr lang="en-US" smtClean="0"/>
              <a:t>28</a:t>
            </a:fld>
            <a:endParaRPr lang="en-US"/>
          </a:p>
        </p:txBody>
      </p:sp>
    </p:spTree>
    <p:extLst>
      <p:ext uri="{BB962C8B-B14F-4D97-AF65-F5344CB8AC3E}">
        <p14:creationId xmlns:p14="http://schemas.microsoft.com/office/powerpoint/2010/main" val="13842867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8265764-CC91-2622-81B0-828932DE0C98}"/>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0611E16E-1104-129A-1A0F-4245A961CAAE}"/>
              </a:ext>
            </a:extLst>
          </p:cNvPr>
          <p:cNvSpPr>
            <a:spLocks noGrp="1"/>
          </p:cNvSpPr>
          <p:nvPr>
            <p:ph type="sldNum" sz="quarter" idx="12"/>
          </p:nvPr>
        </p:nvSpPr>
        <p:spPr/>
        <p:txBody>
          <a:bodyPr/>
          <a:lstStyle/>
          <a:p>
            <a:fld id="{330EA680-D336-4FF7-8B7A-9848BB0A1C32}" type="slidenum">
              <a:rPr lang="en-US" smtClean="0"/>
              <a:t>29</a:t>
            </a:fld>
            <a:endParaRPr lang="en-US"/>
          </a:p>
        </p:txBody>
      </p:sp>
      <p:sp>
        <p:nvSpPr>
          <p:cNvPr id="6" name="TextBox 5">
            <a:extLst>
              <a:ext uri="{FF2B5EF4-FFF2-40B4-BE49-F238E27FC236}">
                <a16:creationId xmlns:a16="http://schemas.microsoft.com/office/drawing/2014/main" id="{5090EE4D-0C86-1A39-13B4-7291A49502CE}"/>
              </a:ext>
            </a:extLst>
          </p:cNvPr>
          <p:cNvSpPr txBox="1"/>
          <p:nvPr/>
        </p:nvSpPr>
        <p:spPr>
          <a:xfrm>
            <a:off x="76200" y="128387"/>
            <a:ext cx="12039600" cy="6001643"/>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the model training phase, multiple machine learning algorithms such as Logistic Regression, Naïve Bayes, and Support Vector Machine (SVM) were trained using the extracted features.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addition, the XLM-RoBERTa, mDeBERTa and MuRIL transformer model was fine-tuned on the dataset to improve contextual understanding and classification performance. Each model was trained independently.</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trained models were then evaluated using performance metrics such as accuracy, precision, recall, and F1-score. </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Visualization techniques such as confusion matrices and ROC curves were used to analyze and compare the performance of each model. Based on this comparison, the best-performing model was identified.</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Finally, a simple user interface was developed where users can input text messages. The system processes the input using the same preprocessing and feature extraction steps, and the trained model predicts whether the message is cyberbullying or non-cyberbullying. </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result is then displayed to the user in real time.</a:t>
            </a:r>
          </a:p>
          <a:p>
            <a:pPr algn="just"/>
            <a:r>
              <a:rPr lang="en-US" sz="2400" b="1" u="sng" dirty="0">
                <a:latin typeface="Times New Roman" panose="02020603050405020304" pitchFamily="18" charset="0"/>
                <a:cs typeface="Times New Roman" panose="02020603050405020304" pitchFamily="18" charset="0"/>
              </a:rPr>
              <a:t>Important Functionalities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Preprocessing</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TF-IDF Feature Extraction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Tokenization and Embeddings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Training of ML and Transformer models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Model Evaluation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Input Prediction System</a:t>
            </a:r>
          </a:p>
        </p:txBody>
      </p:sp>
    </p:spTree>
    <p:extLst>
      <p:ext uri="{BB962C8B-B14F-4D97-AF65-F5344CB8AC3E}">
        <p14:creationId xmlns:p14="http://schemas.microsoft.com/office/powerpoint/2010/main" val="3073600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69C18-EEBD-8158-A9D9-1CE921643960}"/>
              </a:ext>
            </a:extLst>
          </p:cNvPr>
          <p:cNvSpPr>
            <a:spLocks noGrp="1"/>
          </p:cNvSpPr>
          <p:nvPr>
            <p:ph type="title"/>
          </p:nvPr>
        </p:nvSpPr>
        <p:spPr>
          <a:xfrm>
            <a:off x="0" y="136525"/>
            <a:ext cx="12192000" cy="777875"/>
          </a:xfrm>
        </p:spPr>
        <p:txBody>
          <a:bodyPr>
            <a:normAutofit/>
          </a:bodyPr>
          <a:lstStyle/>
          <a:p>
            <a:pPr algn="just"/>
            <a:r>
              <a:rPr lang="en-IN" dirty="0">
                <a:latin typeface="Times New Roman" panose="02020603050405020304" pitchFamily="18" charset="0"/>
                <a:cs typeface="Times New Roman" panose="02020603050405020304" pitchFamily="18" charset="0"/>
              </a:rPr>
              <a:t> </a:t>
            </a:r>
            <a:r>
              <a:rPr lang="en-IN" sz="4800" dirty="0">
                <a:latin typeface="Times New Roman" panose="02020603050405020304" pitchFamily="18" charset="0"/>
                <a:cs typeface="Times New Roman" panose="02020603050405020304" pitchFamily="18" charset="0"/>
              </a:rPr>
              <a:t>14.</a:t>
            </a:r>
            <a:r>
              <a:rPr lang="en-IN" sz="4800" u="sng" dirty="0">
                <a:latin typeface="Times New Roman" panose="02020603050405020304" pitchFamily="18" charset="0"/>
                <a:cs typeface="Times New Roman" panose="02020603050405020304" pitchFamily="18" charset="0"/>
              </a:rPr>
              <a:t>OUTPUTS</a:t>
            </a:r>
          </a:p>
        </p:txBody>
      </p:sp>
      <p:graphicFrame>
        <p:nvGraphicFramePr>
          <p:cNvPr id="6" name="Content Placeholder 5">
            <a:extLst>
              <a:ext uri="{FF2B5EF4-FFF2-40B4-BE49-F238E27FC236}">
                <a16:creationId xmlns:a16="http://schemas.microsoft.com/office/drawing/2014/main" id="{B8239344-D3A5-F5F3-8E47-56BECDE935AA}"/>
              </a:ext>
            </a:extLst>
          </p:cNvPr>
          <p:cNvGraphicFramePr>
            <a:graphicFrameLocks noGrp="1"/>
          </p:cNvGraphicFramePr>
          <p:nvPr>
            <p:ph idx="1"/>
            <p:extLst>
              <p:ext uri="{D42A27DB-BD31-4B8C-83A1-F6EECF244321}">
                <p14:modId xmlns:p14="http://schemas.microsoft.com/office/powerpoint/2010/main" val="3739323585"/>
              </p:ext>
            </p:extLst>
          </p:nvPr>
        </p:nvGraphicFramePr>
        <p:xfrm>
          <a:off x="152400" y="1028701"/>
          <a:ext cx="11887200" cy="539496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935196909"/>
                    </a:ext>
                  </a:extLst>
                </a:gridCol>
                <a:gridCol w="4191000">
                  <a:extLst>
                    <a:ext uri="{9D8B030D-6E8A-4147-A177-3AD203B41FA5}">
                      <a16:colId xmlns:a16="http://schemas.microsoft.com/office/drawing/2014/main" val="2157302379"/>
                    </a:ext>
                  </a:extLst>
                </a:gridCol>
                <a:gridCol w="3962400">
                  <a:extLst>
                    <a:ext uri="{9D8B030D-6E8A-4147-A177-3AD203B41FA5}">
                      <a16:colId xmlns:a16="http://schemas.microsoft.com/office/drawing/2014/main" val="3331385507"/>
                    </a:ext>
                  </a:extLst>
                </a:gridCol>
              </a:tblGrid>
              <a:tr h="2781299">
                <a:tc>
                  <a:txBody>
                    <a:bodyPr/>
                    <a:lstStyle/>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dirty="0">
                          <a:solidFill>
                            <a:schemeClr val="tx1"/>
                          </a:solidFill>
                          <a:latin typeface="Times New Roman" panose="02020603050405020304" pitchFamily="18" charset="0"/>
                          <a:cs typeface="Times New Roman" panose="02020603050405020304" pitchFamily="18" charset="0"/>
                        </a:rPr>
                        <a:t>Logistic Regression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dirty="0">
                          <a:solidFill>
                            <a:schemeClr val="tx1"/>
                          </a:solidFill>
                          <a:latin typeface="Times New Roman" panose="02020603050405020304" pitchFamily="18" charset="0"/>
                          <a:cs typeface="Times New Roman" panose="02020603050405020304" pitchFamily="18" charset="0"/>
                        </a:rPr>
                        <a:t>MuRIL</a:t>
                      </a: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dirty="0">
                          <a:solidFill>
                            <a:schemeClr val="tx1"/>
                          </a:solidFill>
                          <a:latin typeface="Times New Roman" panose="02020603050405020304" pitchFamily="18" charset="0"/>
                          <a:cs typeface="Times New Roman" panose="02020603050405020304" pitchFamily="18" charset="0"/>
                        </a:rPr>
                        <a:t>Support Vector Machine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dirty="0">
                          <a:solidFill>
                            <a:schemeClr val="tx1"/>
                          </a:solidFill>
                          <a:latin typeface="Times New Roman" panose="02020603050405020304" pitchFamily="18" charset="0"/>
                          <a:cs typeface="Times New Roman" panose="02020603050405020304" pitchFamily="18" charset="0"/>
                        </a:rPr>
                        <a:t>Naïve Bayes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17176496"/>
                  </a:ext>
                </a:extLst>
              </a:tr>
              <a:tr h="2438400">
                <a:tc>
                  <a:txBody>
                    <a:bodyPr/>
                    <a:lstStyle/>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MuRIL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XLM-RoBERTa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b="1" dirty="0" err="1">
                          <a:solidFill>
                            <a:schemeClr val="tx1"/>
                          </a:solidFill>
                          <a:latin typeface="Times New Roman" panose="02020603050405020304" pitchFamily="18" charset="0"/>
                          <a:cs typeface="Times New Roman" panose="02020603050405020304" pitchFamily="18" charset="0"/>
                        </a:rPr>
                        <a:t>mDeBERTa</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6813003"/>
                  </a:ext>
                </a:extLst>
              </a:tr>
            </a:tbl>
          </a:graphicData>
        </a:graphic>
      </p:graphicFrame>
      <p:sp>
        <p:nvSpPr>
          <p:cNvPr id="4" name="Footer Placeholder 3">
            <a:extLst>
              <a:ext uri="{FF2B5EF4-FFF2-40B4-BE49-F238E27FC236}">
                <a16:creationId xmlns:a16="http://schemas.microsoft.com/office/drawing/2014/main" id="{842A6D7A-A477-DDF9-57FD-591709E046F8}"/>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FBF08D24-DBDE-1D4C-E6C1-C1C1B6261406}"/>
              </a:ext>
            </a:extLst>
          </p:cNvPr>
          <p:cNvSpPr>
            <a:spLocks noGrp="1"/>
          </p:cNvSpPr>
          <p:nvPr>
            <p:ph type="sldNum" sz="quarter" idx="12"/>
          </p:nvPr>
        </p:nvSpPr>
        <p:spPr/>
        <p:txBody>
          <a:bodyPr/>
          <a:lstStyle/>
          <a:p>
            <a:fld id="{330EA680-D336-4FF7-8B7A-9848BB0A1C32}" type="slidenum">
              <a:rPr lang="en-US" smtClean="0"/>
              <a:t>30</a:t>
            </a:fld>
            <a:endParaRPr lang="en-US"/>
          </a:p>
        </p:txBody>
      </p:sp>
      <p:pic>
        <p:nvPicPr>
          <p:cNvPr id="8" name="Picture 7">
            <a:extLst>
              <a:ext uri="{FF2B5EF4-FFF2-40B4-BE49-F238E27FC236}">
                <a16:creationId xmlns:a16="http://schemas.microsoft.com/office/drawing/2014/main" id="{8023CA0F-04E0-C35B-925E-690F8FCF9E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020" y="1102782"/>
            <a:ext cx="3429001" cy="2346964"/>
          </a:xfrm>
          <a:prstGeom prst="rect">
            <a:avLst/>
          </a:prstGeom>
        </p:spPr>
      </p:pic>
      <p:pic>
        <p:nvPicPr>
          <p:cNvPr id="10" name="Picture 9">
            <a:extLst>
              <a:ext uri="{FF2B5EF4-FFF2-40B4-BE49-F238E27FC236}">
                <a16:creationId xmlns:a16="http://schemas.microsoft.com/office/drawing/2014/main" id="{283ABBC6-B740-AF8A-A9E4-F00C81AB10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8743" y="1194858"/>
            <a:ext cx="3429001" cy="2254888"/>
          </a:xfrm>
          <a:prstGeom prst="rect">
            <a:avLst/>
          </a:prstGeom>
        </p:spPr>
      </p:pic>
      <p:pic>
        <p:nvPicPr>
          <p:cNvPr id="12" name="Picture 11">
            <a:extLst>
              <a:ext uri="{FF2B5EF4-FFF2-40B4-BE49-F238E27FC236}">
                <a16:creationId xmlns:a16="http://schemas.microsoft.com/office/drawing/2014/main" id="{4BFF2E9E-58EA-394E-0F6E-C2E6E51B23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4623" y="1199938"/>
            <a:ext cx="3755153" cy="2326218"/>
          </a:xfrm>
          <a:prstGeom prst="rect">
            <a:avLst/>
          </a:prstGeom>
        </p:spPr>
      </p:pic>
      <p:pic>
        <p:nvPicPr>
          <p:cNvPr id="14" name="Picture 13">
            <a:extLst>
              <a:ext uri="{FF2B5EF4-FFF2-40B4-BE49-F238E27FC236}">
                <a16:creationId xmlns:a16="http://schemas.microsoft.com/office/drawing/2014/main" id="{9D641FC4-3E52-DCD8-4F3D-2C019528C9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321" y="3996374"/>
            <a:ext cx="3314700" cy="2036762"/>
          </a:xfrm>
          <a:prstGeom prst="rect">
            <a:avLst/>
          </a:prstGeom>
        </p:spPr>
      </p:pic>
      <p:pic>
        <p:nvPicPr>
          <p:cNvPr id="16" name="Picture 15">
            <a:extLst>
              <a:ext uri="{FF2B5EF4-FFF2-40B4-BE49-F238E27FC236}">
                <a16:creationId xmlns:a16="http://schemas.microsoft.com/office/drawing/2014/main" id="{5D147026-9464-0A49-A95F-CF282A7244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38742" y="4088340"/>
            <a:ext cx="3571757" cy="1987022"/>
          </a:xfrm>
          <a:prstGeom prst="rect">
            <a:avLst/>
          </a:prstGeom>
        </p:spPr>
      </p:pic>
      <p:pic>
        <p:nvPicPr>
          <p:cNvPr id="18" name="Picture 17">
            <a:extLst>
              <a:ext uri="{FF2B5EF4-FFF2-40B4-BE49-F238E27FC236}">
                <a16:creationId xmlns:a16="http://schemas.microsoft.com/office/drawing/2014/main" id="{18135DA0-23C1-F6F3-3ADE-F45CEC2E4D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39904" y="4021774"/>
            <a:ext cx="3592076" cy="2036762"/>
          </a:xfrm>
          <a:prstGeom prst="rect">
            <a:avLst/>
          </a:prstGeom>
        </p:spPr>
      </p:pic>
    </p:spTree>
    <p:extLst>
      <p:ext uri="{BB962C8B-B14F-4D97-AF65-F5344CB8AC3E}">
        <p14:creationId xmlns:p14="http://schemas.microsoft.com/office/powerpoint/2010/main" val="1957370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28E1795-334C-E618-FCF7-EA7DA8DA70C5}"/>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69A9BD3C-FF2C-9B29-9AF0-DB47C11EEAF7}"/>
              </a:ext>
            </a:extLst>
          </p:cNvPr>
          <p:cNvSpPr>
            <a:spLocks noGrp="1"/>
          </p:cNvSpPr>
          <p:nvPr>
            <p:ph type="sldNum" sz="quarter" idx="12"/>
          </p:nvPr>
        </p:nvSpPr>
        <p:spPr/>
        <p:txBody>
          <a:bodyPr/>
          <a:lstStyle/>
          <a:p>
            <a:fld id="{330EA680-D336-4FF7-8B7A-9848BB0A1C32}" type="slidenum">
              <a:rPr lang="en-US" smtClean="0"/>
              <a:t>31</a:t>
            </a:fld>
            <a:endParaRPr lang="en-US"/>
          </a:p>
        </p:txBody>
      </p:sp>
      <p:graphicFrame>
        <p:nvGraphicFramePr>
          <p:cNvPr id="4" name="Table 3">
            <a:extLst>
              <a:ext uri="{FF2B5EF4-FFF2-40B4-BE49-F238E27FC236}">
                <a16:creationId xmlns:a16="http://schemas.microsoft.com/office/drawing/2014/main" id="{82C8F38D-55A9-62CE-E6D5-8A274C5EAC26}"/>
              </a:ext>
            </a:extLst>
          </p:cNvPr>
          <p:cNvGraphicFramePr>
            <a:graphicFrameLocks noGrp="1"/>
          </p:cNvGraphicFramePr>
          <p:nvPr>
            <p:extLst>
              <p:ext uri="{D42A27DB-BD31-4B8C-83A1-F6EECF244321}">
                <p14:modId xmlns:p14="http://schemas.microsoft.com/office/powerpoint/2010/main" val="2859906633"/>
              </p:ext>
            </p:extLst>
          </p:nvPr>
        </p:nvGraphicFramePr>
        <p:xfrm>
          <a:off x="76200" y="136524"/>
          <a:ext cx="12039600" cy="6217920"/>
        </p:xfrm>
        <a:graphic>
          <a:graphicData uri="http://schemas.openxmlformats.org/drawingml/2006/table">
            <a:tbl>
              <a:tblPr firstRow="1" bandRow="1">
                <a:tableStyleId>{5C22544A-7EE6-4342-B048-85BDC9FD1C3A}</a:tableStyleId>
              </a:tblPr>
              <a:tblGrid>
                <a:gridCol w="4013200">
                  <a:extLst>
                    <a:ext uri="{9D8B030D-6E8A-4147-A177-3AD203B41FA5}">
                      <a16:colId xmlns:a16="http://schemas.microsoft.com/office/drawing/2014/main" val="923726517"/>
                    </a:ext>
                  </a:extLst>
                </a:gridCol>
                <a:gridCol w="4013200">
                  <a:extLst>
                    <a:ext uri="{9D8B030D-6E8A-4147-A177-3AD203B41FA5}">
                      <a16:colId xmlns:a16="http://schemas.microsoft.com/office/drawing/2014/main" val="3445476200"/>
                    </a:ext>
                  </a:extLst>
                </a:gridCol>
                <a:gridCol w="4013200">
                  <a:extLst>
                    <a:ext uri="{9D8B030D-6E8A-4147-A177-3AD203B41FA5}">
                      <a16:colId xmlns:a16="http://schemas.microsoft.com/office/drawing/2014/main" val="3530317525"/>
                    </a:ext>
                  </a:extLst>
                </a:gridCol>
              </a:tblGrid>
              <a:tr h="2979738">
                <a:tc>
                  <a:txBody>
                    <a:bodyP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Logistic Regression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Support Vector Machine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Naïve Bayes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8648268"/>
                  </a:ext>
                </a:extLst>
              </a:tr>
              <a:tr h="2979738">
                <a:tc>
                  <a:txBody>
                    <a:bodyP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MuRIL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XLM-RoBERTa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r>
                        <a:rPr lang="en-IN" b="1" dirty="0" err="1">
                          <a:solidFill>
                            <a:schemeClr val="tx1"/>
                          </a:solidFill>
                          <a:latin typeface="Times New Roman" panose="02020603050405020304" pitchFamily="18" charset="0"/>
                          <a:cs typeface="Times New Roman" panose="02020603050405020304" pitchFamily="18" charset="0"/>
                        </a:rPr>
                        <a:t>mDeBERTa</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152957"/>
                  </a:ext>
                </a:extLst>
              </a:tr>
            </a:tbl>
          </a:graphicData>
        </a:graphic>
      </p:graphicFrame>
      <p:pic>
        <p:nvPicPr>
          <p:cNvPr id="6" name="Picture 5">
            <a:extLst>
              <a:ext uri="{FF2B5EF4-FFF2-40B4-BE49-F238E27FC236}">
                <a16:creationId xmlns:a16="http://schemas.microsoft.com/office/drawing/2014/main" id="{6C6A6A87-ADCB-1B8F-34C9-34B6ED5A5F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128" y="427867"/>
            <a:ext cx="3186545" cy="2461354"/>
          </a:xfrm>
          <a:prstGeom prst="rect">
            <a:avLst/>
          </a:prstGeom>
        </p:spPr>
      </p:pic>
      <p:pic>
        <p:nvPicPr>
          <p:cNvPr id="8" name="Picture 7">
            <a:extLst>
              <a:ext uri="{FF2B5EF4-FFF2-40B4-BE49-F238E27FC236}">
                <a16:creationId xmlns:a16="http://schemas.microsoft.com/office/drawing/2014/main" id="{2FE6405A-D8E7-2CEF-80DC-B04BE835F2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3455" y="419400"/>
            <a:ext cx="3325091" cy="2461354"/>
          </a:xfrm>
          <a:prstGeom prst="rect">
            <a:avLst/>
          </a:prstGeom>
        </p:spPr>
      </p:pic>
      <p:pic>
        <p:nvPicPr>
          <p:cNvPr id="10" name="Picture 9">
            <a:extLst>
              <a:ext uri="{FF2B5EF4-FFF2-40B4-BE49-F238E27FC236}">
                <a16:creationId xmlns:a16="http://schemas.microsoft.com/office/drawing/2014/main" id="{14E0BDA0-8B67-85A8-6CC9-91DA04ED46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10600" y="351667"/>
            <a:ext cx="3048000" cy="2461354"/>
          </a:xfrm>
          <a:prstGeom prst="rect">
            <a:avLst/>
          </a:prstGeom>
        </p:spPr>
      </p:pic>
      <p:pic>
        <p:nvPicPr>
          <p:cNvPr id="12" name="Picture 11">
            <a:extLst>
              <a:ext uri="{FF2B5EF4-FFF2-40B4-BE49-F238E27FC236}">
                <a16:creationId xmlns:a16="http://schemas.microsoft.com/office/drawing/2014/main" id="{2717CE28-B863-3371-F1AD-AB2A99A186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53560" y="3360146"/>
            <a:ext cx="3657600" cy="2605271"/>
          </a:xfrm>
          <a:prstGeom prst="rect">
            <a:avLst/>
          </a:prstGeom>
        </p:spPr>
      </p:pic>
      <p:pic>
        <p:nvPicPr>
          <p:cNvPr id="14" name="Picture 13">
            <a:extLst>
              <a:ext uri="{FF2B5EF4-FFF2-40B4-BE49-F238E27FC236}">
                <a16:creationId xmlns:a16="http://schemas.microsoft.com/office/drawing/2014/main" id="{44E80E99-6860-0F2A-F2AE-ED9BFA101A6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8920" y="3375386"/>
            <a:ext cx="3657600" cy="2605271"/>
          </a:xfrm>
          <a:prstGeom prst="rect">
            <a:avLst/>
          </a:prstGeom>
        </p:spPr>
      </p:pic>
      <p:pic>
        <p:nvPicPr>
          <p:cNvPr id="16" name="Picture 15">
            <a:extLst>
              <a:ext uri="{FF2B5EF4-FFF2-40B4-BE49-F238E27FC236}">
                <a16:creationId xmlns:a16="http://schemas.microsoft.com/office/drawing/2014/main" id="{0463484D-0D9A-776B-D967-F414E06FFFA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83880" y="3334601"/>
            <a:ext cx="3733800" cy="2686839"/>
          </a:xfrm>
          <a:prstGeom prst="rect">
            <a:avLst/>
          </a:prstGeom>
        </p:spPr>
      </p:pic>
    </p:spTree>
    <p:extLst>
      <p:ext uri="{BB962C8B-B14F-4D97-AF65-F5344CB8AC3E}">
        <p14:creationId xmlns:p14="http://schemas.microsoft.com/office/powerpoint/2010/main" val="12941699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238425-0F06-B52A-7465-4E80CD686E88}"/>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93D20DD0-F28A-311E-85FF-96B07CC5E71C}"/>
              </a:ext>
            </a:extLst>
          </p:cNvPr>
          <p:cNvSpPr>
            <a:spLocks noGrp="1"/>
          </p:cNvSpPr>
          <p:nvPr>
            <p:ph type="sldNum" sz="quarter" idx="12"/>
          </p:nvPr>
        </p:nvSpPr>
        <p:spPr/>
        <p:txBody>
          <a:bodyPr/>
          <a:lstStyle/>
          <a:p>
            <a:fld id="{330EA680-D336-4FF7-8B7A-9848BB0A1C32}" type="slidenum">
              <a:rPr lang="en-US" smtClean="0"/>
              <a:pPr/>
              <a:t>32</a:t>
            </a:fld>
            <a:endParaRPr lang="en-US"/>
          </a:p>
        </p:txBody>
      </p:sp>
      <p:pic>
        <p:nvPicPr>
          <p:cNvPr id="13" name="Picture 12">
            <a:extLst>
              <a:ext uri="{FF2B5EF4-FFF2-40B4-BE49-F238E27FC236}">
                <a16:creationId xmlns:a16="http://schemas.microsoft.com/office/drawing/2014/main" id="{EB3D82C8-1D8B-0DD6-9A44-56D6F1BD7A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9387" y="136524"/>
            <a:ext cx="11996413" cy="5819716"/>
          </a:xfrm>
          <a:prstGeom prst="rect">
            <a:avLst/>
          </a:prstGeom>
        </p:spPr>
      </p:pic>
      <p:sp>
        <p:nvSpPr>
          <p:cNvPr id="2" name="TextBox 1">
            <a:extLst>
              <a:ext uri="{FF2B5EF4-FFF2-40B4-BE49-F238E27FC236}">
                <a16:creationId xmlns:a16="http://schemas.microsoft.com/office/drawing/2014/main" id="{9294CC7E-FA8A-8783-FBAE-67560C3FBC43}"/>
              </a:ext>
            </a:extLst>
          </p:cNvPr>
          <p:cNvSpPr txBox="1"/>
          <p:nvPr/>
        </p:nvSpPr>
        <p:spPr>
          <a:xfrm>
            <a:off x="4133011" y="5987018"/>
            <a:ext cx="3432350" cy="338554"/>
          </a:xfrm>
          <a:prstGeom prst="rect">
            <a:avLst/>
          </a:prstGeom>
          <a:noFill/>
        </p:spPr>
        <p:txBody>
          <a:bodyPr wrap="none" rtlCol="0">
            <a:spAutoFit/>
          </a:bodyPr>
          <a:lstStyle/>
          <a:p>
            <a:r>
              <a:rPr lang="en-IN" sz="1600" dirty="0">
                <a:latin typeface="Times New Roman" panose="02020603050405020304" pitchFamily="18" charset="0"/>
                <a:cs typeface="Times New Roman" panose="02020603050405020304" pitchFamily="18" charset="0"/>
              </a:rPr>
              <a:t>Figure 14.1-Non-Cyberbullying Output</a:t>
            </a:r>
          </a:p>
        </p:txBody>
      </p:sp>
    </p:spTree>
    <p:extLst>
      <p:ext uri="{BB962C8B-B14F-4D97-AF65-F5344CB8AC3E}">
        <p14:creationId xmlns:p14="http://schemas.microsoft.com/office/powerpoint/2010/main" val="20793828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DD00E15-1C70-D055-5CA6-19F810CB2C46}"/>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3217196E-89EA-60AA-CFB6-0F5AFF719CE4}"/>
              </a:ext>
            </a:extLst>
          </p:cNvPr>
          <p:cNvSpPr>
            <a:spLocks noGrp="1"/>
          </p:cNvSpPr>
          <p:nvPr>
            <p:ph type="sldNum" sz="quarter" idx="12"/>
          </p:nvPr>
        </p:nvSpPr>
        <p:spPr/>
        <p:txBody>
          <a:bodyPr/>
          <a:lstStyle/>
          <a:p>
            <a:fld id="{330EA680-D336-4FF7-8B7A-9848BB0A1C32}" type="slidenum">
              <a:rPr lang="en-US" smtClean="0"/>
              <a:t>33</a:t>
            </a:fld>
            <a:endParaRPr lang="en-US"/>
          </a:p>
        </p:txBody>
      </p:sp>
      <p:pic>
        <p:nvPicPr>
          <p:cNvPr id="5" name="Picture 4">
            <a:extLst>
              <a:ext uri="{FF2B5EF4-FFF2-40B4-BE49-F238E27FC236}">
                <a16:creationId xmlns:a16="http://schemas.microsoft.com/office/drawing/2014/main" id="{02F84810-7D3B-D27A-E23D-CF4C784A19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36525"/>
            <a:ext cx="12039600" cy="5807076"/>
          </a:xfrm>
          <a:prstGeom prst="rect">
            <a:avLst/>
          </a:prstGeom>
        </p:spPr>
      </p:pic>
      <p:sp>
        <p:nvSpPr>
          <p:cNvPr id="6" name="TextBox 5">
            <a:extLst>
              <a:ext uri="{FF2B5EF4-FFF2-40B4-BE49-F238E27FC236}">
                <a16:creationId xmlns:a16="http://schemas.microsoft.com/office/drawing/2014/main" id="{7660B758-B5CD-E100-7AAC-775D44701943}"/>
              </a:ext>
            </a:extLst>
          </p:cNvPr>
          <p:cNvSpPr txBox="1"/>
          <p:nvPr/>
        </p:nvSpPr>
        <p:spPr>
          <a:xfrm>
            <a:off x="4918434" y="5980698"/>
            <a:ext cx="2355132" cy="338554"/>
          </a:xfrm>
          <a:prstGeom prst="rect">
            <a:avLst/>
          </a:prstGeom>
          <a:noFill/>
        </p:spPr>
        <p:txBody>
          <a:bodyPr wrap="none" rtlCol="0">
            <a:spAutoFit/>
          </a:bodyPr>
          <a:lstStyle/>
          <a:p>
            <a:pPr algn="ctr"/>
            <a:r>
              <a:rPr lang="en-IN" sz="1600" dirty="0">
                <a:latin typeface="Times New Roman" panose="02020603050405020304" pitchFamily="18" charset="0"/>
                <a:cs typeface="Times New Roman" panose="02020603050405020304" pitchFamily="18" charset="0"/>
              </a:rPr>
              <a:t>Figure 14.2-Enter any text</a:t>
            </a:r>
          </a:p>
        </p:txBody>
      </p:sp>
    </p:spTree>
    <p:extLst>
      <p:ext uri="{BB962C8B-B14F-4D97-AF65-F5344CB8AC3E}">
        <p14:creationId xmlns:p14="http://schemas.microsoft.com/office/powerpoint/2010/main" val="13836307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2D23EF0-7BB7-A318-EC93-1821CE6E297C}"/>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F34BBCAF-B346-9355-0AF6-D5EB256A1D3A}"/>
              </a:ext>
            </a:extLst>
          </p:cNvPr>
          <p:cNvSpPr>
            <a:spLocks noGrp="1"/>
          </p:cNvSpPr>
          <p:nvPr>
            <p:ph type="sldNum" sz="quarter" idx="12"/>
          </p:nvPr>
        </p:nvSpPr>
        <p:spPr/>
        <p:txBody>
          <a:bodyPr/>
          <a:lstStyle/>
          <a:p>
            <a:fld id="{330EA680-D336-4FF7-8B7A-9848BB0A1C32}" type="slidenum">
              <a:rPr lang="en-US" smtClean="0"/>
              <a:t>34</a:t>
            </a:fld>
            <a:endParaRPr lang="en-US"/>
          </a:p>
        </p:txBody>
      </p:sp>
      <p:pic>
        <p:nvPicPr>
          <p:cNvPr id="4" name="Picture 3">
            <a:extLst>
              <a:ext uri="{FF2B5EF4-FFF2-40B4-BE49-F238E27FC236}">
                <a16:creationId xmlns:a16="http://schemas.microsoft.com/office/drawing/2014/main" id="{E5F3D59D-B165-0AA5-7104-5315967F6CBC}"/>
              </a:ext>
            </a:extLst>
          </p:cNvPr>
          <p:cNvPicPr>
            <a:picLocks noChangeAspect="1"/>
          </p:cNvPicPr>
          <p:nvPr/>
        </p:nvPicPr>
        <p:blipFill>
          <a:blip r:embed="rId2"/>
          <a:stretch>
            <a:fillRect/>
          </a:stretch>
        </p:blipFill>
        <p:spPr>
          <a:xfrm>
            <a:off x="76200" y="136526"/>
            <a:ext cx="12039600" cy="5807074"/>
          </a:xfrm>
          <a:prstGeom prst="rect">
            <a:avLst/>
          </a:prstGeom>
        </p:spPr>
      </p:pic>
      <p:sp>
        <p:nvSpPr>
          <p:cNvPr id="5" name="TextBox 4">
            <a:extLst>
              <a:ext uri="{FF2B5EF4-FFF2-40B4-BE49-F238E27FC236}">
                <a16:creationId xmlns:a16="http://schemas.microsoft.com/office/drawing/2014/main" id="{127197B1-7262-13CB-3A09-001213B1055C}"/>
              </a:ext>
            </a:extLst>
          </p:cNvPr>
          <p:cNvSpPr txBox="1"/>
          <p:nvPr/>
        </p:nvSpPr>
        <p:spPr>
          <a:xfrm>
            <a:off x="4359082" y="5987018"/>
            <a:ext cx="3010761" cy="338554"/>
          </a:xfrm>
          <a:prstGeom prst="rect">
            <a:avLst/>
          </a:prstGeom>
          <a:noFill/>
        </p:spPr>
        <p:txBody>
          <a:bodyPr wrap="none" rtlCol="0">
            <a:spAutoFit/>
          </a:bodyPr>
          <a:lstStyle/>
          <a:p>
            <a:r>
              <a:rPr lang="en-IN" sz="1600" dirty="0">
                <a:latin typeface="Times New Roman" panose="02020603050405020304" pitchFamily="18" charset="0"/>
                <a:cs typeface="Times New Roman" panose="02020603050405020304" pitchFamily="18" charset="0"/>
              </a:rPr>
              <a:t>Figure 14.3-Cyberbullying Output</a:t>
            </a:r>
          </a:p>
        </p:txBody>
      </p:sp>
    </p:spTree>
    <p:extLst>
      <p:ext uri="{BB962C8B-B14F-4D97-AF65-F5344CB8AC3E}">
        <p14:creationId xmlns:p14="http://schemas.microsoft.com/office/powerpoint/2010/main" val="24348358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60304-3A8F-DE40-0BFE-D1ABDA2BD1DD}"/>
              </a:ext>
            </a:extLst>
          </p:cNvPr>
          <p:cNvSpPr>
            <a:spLocks noGrp="1"/>
          </p:cNvSpPr>
          <p:nvPr>
            <p:ph type="title"/>
          </p:nvPr>
        </p:nvSpPr>
        <p:spPr>
          <a:xfrm>
            <a:off x="0" y="136525"/>
            <a:ext cx="12192000" cy="930275"/>
          </a:xfrm>
        </p:spPr>
        <p:txBody>
          <a:bodyPr/>
          <a:lstStyle/>
          <a:p>
            <a:r>
              <a:rPr lang="en-IN" dirty="0"/>
              <a:t> </a:t>
            </a:r>
            <a:r>
              <a:rPr lang="en-IN" sz="4800" dirty="0">
                <a:latin typeface="Times New Roman" panose="02020603050405020304" pitchFamily="18" charset="0"/>
                <a:cs typeface="Times New Roman" panose="02020603050405020304" pitchFamily="18" charset="0"/>
              </a:rPr>
              <a:t>15. </a:t>
            </a:r>
            <a:r>
              <a:rPr lang="en-IN" sz="4800" u="sng" dirty="0">
                <a:latin typeface="Times New Roman" panose="02020603050405020304" pitchFamily="18" charset="0"/>
                <a:cs typeface="Times New Roman" panose="02020603050405020304" pitchFamily="18" charset="0"/>
              </a:rPr>
              <a:t>RESULTS AND DISCUSSION</a:t>
            </a:r>
          </a:p>
        </p:txBody>
      </p:sp>
      <p:sp>
        <p:nvSpPr>
          <p:cNvPr id="3" name="Content Placeholder 2">
            <a:extLst>
              <a:ext uri="{FF2B5EF4-FFF2-40B4-BE49-F238E27FC236}">
                <a16:creationId xmlns:a16="http://schemas.microsoft.com/office/drawing/2014/main" id="{5A0F5F1E-EBBB-77BA-2E13-924A4C591B32}"/>
              </a:ext>
            </a:extLst>
          </p:cNvPr>
          <p:cNvSpPr>
            <a:spLocks noGrp="1"/>
          </p:cNvSpPr>
          <p:nvPr>
            <p:ph idx="1"/>
          </p:nvPr>
        </p:nvSpPr>
        <p:spPr>
          <a:xfrm>
            <a:off x="76200" y="1143000"/>
            <a:ext cx="12039600" cy="5033963"/>
          </a:xfrm>
        </p:spPr>
        <p:txBody>
          <a:bodyPr>
            <a:normAutofit/>
          </a:bodyPr>
          <a:lstStyle/>
          <a:p>
            <a:r>
              <a:rPr lang="en-US" sz="2000" dirty="0">
                <a:latin typeface="Times New Roman" panose="02020603050405020304" pitchFamily="18" charset="0"/>
                <a:cs typeface="Times New Roman" panose="02020603050405020304" pitchFamily="18" charset="0"/>
              </a:rPr>
              <a:t>The performance of the proposed cyberbullying detection system was evaluated using multiple machine learning and transformer-based models. </a:t>
            </a:r>
          </a:p>
          <a:p>
            <a:r>
              <a:rPr lang="en-US" sz="2000" dirty="0">
                <a:latin typeface="Times New Roman" panose="02020603050405020304" pitchFamily="18" charset="0"/>
                <a:cs typeface="Times New Roman" panose="02020603050405020304" pitchFamily="18" charset="0"/>
              </a:rPr>
              <a:t>Each model was trained and tested on the same dataset and evaluated using standard metrics such as accuracy, precision, recall, and F1-score.</a:t>
            </a:r>
          </a:p>
          <a:p>
            <a:r>
              <a:rPr lang="en-US" sz="2000" dirty="0">
                <a:latin typeface="Times New Roman" panose="02020603050405020304" pitchFamily="18" charset="0"/>
                <a:cs typeface="Times New Roman" panose="02020603050405020304" pitchFamily="18" charset="0"/>
              </a:rPr>
              <a:t>Among all the models, XLM-</a:t>
            </a:r>
            <a:r>
              <a:rPr lang="en-US" sz="2000" dirty="0" err="1">
                <a:latin typeface="Times New Roman" panose="02020603050405020304" pitchFamily="18" charset="0"/>
                <a:cs typeface="Times New Roman" panose="02020603050405020304" pitchFamily="18" charset="0"/>
              </a:rPr>
              <a:t>RoBERTa</a:t>
            </a:r>
            <a:r>
              <a:rPr lang="en-US" sz="2000" dirty="0">
                <a:latin typeface="Times New Roman" panose="02020603050405020304" pitchFamily="18" charset="0"/>
                <a:cs typeface="Times New Roman" panose="02020603050405020304" pitchFamily="18" charset="0"/>
              </a:rPr>
              <a:t> achieved the highest performance, with an accuracy of 85%, precision of 0.86, recall of 0.83, and F1-score of 0.84, making it the most effective model for detecting cyberbullying in code-mixed text. </a:t>
            </a:r>
          </a:p>
          <a:p>
            <a:r>
              <a:rPr lang="en-US" sz="2000" dirty="0">
                <a:latin typeface="Times New Roman" panose="02020603050405020304" pitchFamily="18" charset="0"/>
                <a:cs typeface="Times New Roman" panose="02020603050405020304" pitchFamily="18" charset="0"/>
              </a:rPr>
              <a:t>The Support Vector Machine (SVM) also performed well among traditional models, achieving an accuracy of 83% and F1-score of 0.82.</a:t>
            </a:r>
          </a:p>
          <a:p>
            <a:r>
              <a:rPr lang="en-US" sz="2000" dirty="0">
                <a:latin typeface="Times New Roman" panose="02020603050405020304" pitchFamily="18" charset="0"/>
                <a:cs typeface="Times New Roman" panose="02020603050405020304" pitchFamily="18" charset="0"/>
              </a:rPr>
              <a:t>The MuRIL model showed competitive performance with an accuracy of 83% and F1-score of 0.83, demonstrating its effectiveness in handling multilingual data. </a:t>
            </a:r>
          </a:p>
          <a:p>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mDeBERTa</a:t>
            </a:r>
            <a:r>
              <a:rPr lang="en-US" sz="2000" dirty="0">
                <a:latin typeface="Times New Roman" panose="02020603050405020304" pitchFamily="18" charset="0"/>
                <a:cs typeface="Times New Roman" panose="02020603050405020304" pitchFamily="18" charset="0"/>
              </a:rPr>
              <a:t> model achieved an accuracy of 82% with balanced precision but slightly lower recall. </a:t>
            </a:r>
          </a:p>
          <a:p>
            <a:r>
              <a:rPr lang="en-US" sz="2000" dirty="0">
                <a:latin typeface="Times New Roman" panose="02020603050405020304" pitchFamily="18" charset="0"/>
                <a:cs typeface="Times New Roman" panose="02020603050405020304" pitchFamily="18" charset="0"/>
              </a:rPr>
              <a:t>Logistic Regression provided moderate performance with an accuracy of 80%, while Naïve Bayes showed lower overall performance, with an accuracy of 63%, but a relatively higher recall, indicating its ability to detect more cyberbullying cases at the cost of increased false positives.</a:t>
            </a:r>
          </a:p>
          <a:p>
            <a:endParaRPr lang="en-IN" dirty="0"/>
          </a:p>
        </p:txBody>
      </p:sp>
      <p:sp>
        <p:nvSpPr>
          <p:cNvPr id="4" name="Footer Placeholder 3">
            <a:extLst>
              <a:ext uri="{FF2B5EF4-FFF2-40B4-BE49-F238E27FC236}">
                <a16:creationId xmlns:a16="http://schemas.microsoft.com/office/drawing/2014/main" id="{E6DD6C46-7547-EA73-5FAB-3D3CE3AD3F70}"/>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E0478056-6F17-18C1-1B45-825AB2F2354C}"/>
              </a:ext>
            </a:extLst>
          </p:cNvPr>
          <p:cNvSpPr>
            <a:spLocks noGrp="1"/>
          </p:cNvSpPr>
          <p:nvPr>
            <p:ph type="sldNum" sz="quarter" idx="12"/>
          </p:nvPr>
        </p:nvSpPr>
        <p:spPr/>
        <p:txBody>
          <a:bodyPr/>
          <a:lstStyle/>
          <a:p>
            <a:fld id="{330EA680-D336-4FF7-8B7A-9848BB0A1C32}" type="slidenum">
              <a:rPr lang="en-US" smtClean="0"/>
              <a:t>35</a:t>
            </a:fld>
            <a:endParaRPr lang="en-US"/>
          </a:p>
        </p:txBody>
      </p:sp>
    </p:spTree>
    <p:extLst>
      <p:ext uri="{BB962C8B-B14F-4D97-AF65-F5344CB8AC3E}">
        <p14:creationId xmlns:p14="http://schemas.microsoft.com/office/powerpoint/2010/main" val="5344315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0E6430F-6860-9DD2-054C-70F5BDA5504F}"/>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F8682A09-612F-3B73-C97B-2667BA9AC31E}"/>
              </a:ext>
            </a:extLst>
          </p:cNvPr>
          <p:cNvSpPr>
            <a:spLocks noGrp="1"/>
          </p:cNvSpPr>
          <p:nvPr>
            <p:ph type="sldNum" sz="quarter" idx="12"/>
          </p:nvPr>
        </p:nvSpPr>
        <p:spPr/>
        <p:txBody>
          <a:bodyPr/>
          <a:lstStyle/>
          <a:p>
            <a:fld id="{330EA680-D336-4FF7-8B7A-9848BB0A1C32}" type="slidenum">
              <a:rPr lang="en-US" smtClean="0"/>
              <a:t>36</a:t>
            </a:fld>
            <a:endParaRPr lang="en-US"/>
          </a:p>
        </p:txBody>
      </p:sp>
      <p:graphicFrame>
        <p:nvGraphicFramePr>
          <p:cNvPr id="8" name="Table 7">
            <a:extLst>
              <a:ext uri="{FF2B5EF4-FFF2-40B4-BE49-F238E27FC236}">
                <a16:creationId xmlns:a16="http://schemas.microsoft.com/office/drawing/2014/main" id="{B8F3DF5C-CB8A-457D-0F10-BEFB3DA6B934}"/>
              </a:ext>
            </a:extLst>
          </p:cNvPr>
          <p:cNvGraphicFramePr>
            <a:graphicFrameLocks noGrp="1"/>
          </p:cNvGraphicFramePr>
          <p:nvPr>
            <p:extLst>
              <p:ext uri="{D42A27DB-BD31-4B8C-83A1-F6EECF244321}">
                <p14:modId xmlns:p14="http://schemas.microsoft.com/office/powerpoint/2010/main" val="704885"/>
              </p:ext>
            </p:extLst>
          </p:nvPr>
        </p:nvGraphicFramePr>
        <p:xfrm>
          <a:off x="228600" y="2133600"/>
          <a:ext cx="11734800" cy="3047999"/>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3712289081"/>
                    </a:ext>
                  </a:extLst>
                </a:gridCol>
                <a:gridCol w="2026920">
                  <a:extLst>
                    <a:ext uri="{9D8B030D-6E8A-4147-A177-3AD203B41FA5}">
                      <a16:colId xmlns:a16="http://schemas.microsoft.com/office/drawing/2014/main" val="1296782495"/>
                    </a:ext>
                  </a:extLst>
                </a:gridCol>
                <a:gridCol w="2346960">
                  <a:extLst>
                    <a:ext uri="{9D8B030D-6E8A-4147-A177-3AD203B41FA5}">
                      <a16:colId xmlns:a16="http://schemas.microsoft.com/office/drawing/2014/main" val="4247929036"/>
                    </a:ext>
                  </a:extLst>
                </a:gridCol>
                <a:gridCol w="2346960">
                  <a:extLst>
                    <a:ext uri="{9D8B030D-6E8A-4147-A177-3AD203B41FA5}">
                      <a16:colId xmlns:a16="http://schemas.microsoft.com/office/drawing/2014/main" val="2268494388"/>
                    </a:ext>
                  </a:extLst>
                </a:gridCol>
                <a:gridCol w="2346960">
                  <a:extLst>
                    <a:ext uri="{9D8B030D-6E8A-4147-A177-3AD203B41FA5}">
                      <a16:colId xmlns:a16="http://schemas.microsoft.com/office/drawing/2014/main" val="3657578455"/>
                    </a:ext>
                  </a:extLst>
                </a:gridCol>
              </a:tblGrid>
              <a:tr h="362122">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Models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Accuracy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Recall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F1-Score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5066620"/>
                  </a:ext>
                </a:extLst>
              </a:tr>
              <a:tr h="464879">
                <a:tc>
                  <a:txBody>
                    <a:bodyPr/>
                    <a:lstStyle/>
                    <a:p>
                      <a:pPr algn="just"/>
                      <a:r>
                        <a:rPr lang="en-IN" sz="2000" dirty="0">
                          <a:latin typeface="Times New Roman" panose="02020603050405020304" pitchFamily="18" charset="0"/>
                          <a:cs typeface="Times New Roman" panose="02020603050405020304" pitchFamily="18" charset="0"/>
                        </a:rPr>
                        <a:t>Logistic Regression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0.79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1911667"/>
                  </a:ext>
                </a:extLst>
              </a:tr>
              <a:tr h="496137">
                <a:tc>
                  <a:txBody>
                    <a:bodyPr/>
                    <a:lstStyle/>
                    <a:p>
                      <a:pPr algn="just"/>
                      <a:r>
                        <a:rPr lang="en-IN" sz="2000" dirty="0">
                          <a:latin typeface="Times New Roman" panose="02020603050405020304" pitchFamily="18" charset="0"/>
                          <a:cs typeface="Times New Roman" panose="02020603050405020304" pitchFamily="18" charset="0"/>
                        </a:rPr>
                        <a:t>Support Vector Machine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0.79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107650"/>
                  </a:ext>
                </a:extLst>
              </a:tr>
              <a:tr h="417833">
                <a:tc>
                  <a:txBody>
                    <a:bodyPr/>
                    <a:lstStyle/>
                    <a:p>
                      <a:pPr algn="just"/>
                      <a:r>
                        <a:rPr lang="en-IN" sz="2000" dirty="0">
                          <a:latin typeface="Times New Roman" panose="02020603050405020304" pitchFamily="18" charset="0"/>
                          <a:cs typeface="Times New Roman" panose="02020603050405020304" pitchFamily="18" charset="0"/>
                        </a:rPr>
                        <a:t>Naïve Bayes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0.63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8817118"/>
                  </a:ext>
                </a:extLst>
              </a:tr>
              <a:tr h="362122">
                <a:tc>
                  <a:txBody>
                    <a:bodyPr/>
                    <a:lstStyle/>
                    <a:p>
                      <a:pPr algn="just"/>
                      <a:r>
                        <a:rPr lang="en-IN" sz="2000" dirty="0">
                          <a:latin typeface="Times New Roman" panose="02020603050405020304" pitchFamily="18" charset="0"/>
                          <a:cs typeface="Times New Roman" panose="02020603050405020304" pitchFamily="18" charset="0"/>
                        </a:rPr>
                        <a:t>MuRIL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533481"/>
                  </a:ext>
                </a:extLst>
              </a:tr>
              <a:tr h="403906">
                <a:tc>
                  <a:txBody>
                    <a:bodyPr/>
                    <a:lstStyle/>
                    <a:p>
                      <a:pPr algn="just"/>
                      <a:r>
                        <a:rPr lang="en-IN" sz="2000" dirty="0">
                          <a:latin typeface="Times New Roman" panose="02020603050405020304" pitchFamily="18" charset="0"/>
                          <a:cs typeface="Times New Roman" panose="02020603050405020304" pitchFamily="18" charset="0"/>
                        </a:rPr>
                        <a:t>XLM-RoBERTa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15821845"/>
                  </a:ext>
                </a:extLst>
              </a:tr>
              <a:tr h="472764">
                <a:tc>
                  <a:txBody>
                    <a:bodyPr/>
                    <a:lstStyle/>
                    <a:p>
                      <a:pPr algn="just"/>
                      <a:r>
                        <a:rPr lang="en-IN" sz="2000" dirty="0">
                          <a:latin typeface="Times New Roman" panose="02020603050405020304" pitchFamily="18" charset="0"/>
                          <a:cs typeface="Times New Roman" panose="02020603050405020304" pitchFamily="18" charset="0"/>
                        </a:rPr>
                        <a:t>mDeBERTa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6373907"/>
                  </a:ext>
                </a:extLst>
              </a:tr>
            </a:tbl>
          </a:graphicData>
        </a:graphic>
      </p:graphicFrame>
      <p:sp>
        <p:nvSpPr>
          <p:cNvPr id="2" name="TextBox 1">
            <a:extLst>
              <a:ext uri="{FF2B5EF4-FFF2-40B4-BE49-F238E27FC236}">
                <a16:creationId xmlns:a16="http://schemas.microsoft.com/office/drawing/2014/main" id="{80B5578D-5EA9-F362-B797-99C68D0D0B5C}"/>
              </a:ext>
            </a:extLst>
          </p:cNvPr>
          <p:cNvSpPr txBox="1"/>
          <p:nvPr/>
        </p:nvSpPr>
        <p:spPr>
          <a:xfrm>
            <a:off x="2971800" y="1507124"/>
            <a:ext cx="5047792" cy="338554"/>
          </a:xfrm>
          <a:prstGeom prst="rect">
            <a:avLst/>
          </a:prstGeom>
          <a:noFill/>
        </p:spPr>
        <p:txBody>
          <a:bodyPr wrap="none" rtlCol="0">
            <a:spAutoFit/>
          </a:bodyPr>
          <a:lstStyle/>
          <a:p>
            <a:pPr algn="ctr"/>
            <a:r>
              <a:rPr lang="en-IN" sz="1600" dirty="0">
                <a:latin typeface="Times New Roman" panose="02020603050405020304" pitchFamily="18" charset="0"/>
                <a:cs typeface="Times New Roman" panose="02020603050405020304" pitchFamily="18" charset="0"/>
              </a:rPr>
              <a:t>Table 1-Performance Comparison table of different models</a:t>
            </a:r>
          </a:p>
        </p:txBody>
      </p:sp>
    </p:spTree>
    <p:extLst>
      <p:ext uri="{BB962C8B-B14F-4D97-AF65-F5344CB8AC3E}">
        <p14:creationId xmlns:p14="http://schemas.microsoft.com/office/powerpoint/2010/main" val="26395187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F3338B6-5809-CC2F-0DEB-E1275A54D63E}"/>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C9E11916-D883-A92A-6508-A3AD775D9AA0}"/>
              </a:ext>
            </a:extLst>
          </p:cNvPr>
          <p:cNvSpPr>
            <a:spLocks noGrp="1"/>
          </p:cNvSpPr>
          <p:nvPr>
            <p:ph type="sldNum" sz="quarter" idx="12"/>
          </p:nvPr>
        </p:nvSpPr>
        <p:spPr/>
        <p:txBody>
          <a:bodyPr/>
          <a:lstStyle/>
          <a:p>
            <a:fld id="{330EA680-D336-4FF7-8B7A-9848BB0A1C32}" type="slidenum">
              <a:rPr lang="en-US" smtClean="0"/>
              <a:t>37</a:t>
            </a:fld>
            <a:endParaRPr lang="en-US"/>
          </a:p>
        </p:txBody>
      </p:sp>
      <p:pic>
        <p:nvPicPr>
          <p:cNvPr id="4" name="Picture 3">
            <a:extLst>
              <a:ext uri="{FF2B5EF4-FFF2-40B4-BE49-F238E27FC236}">
                <a16:creationId xmlns:a16="http://schemas.microsoft.com/office/drawing/2014/main" id="{AF276386-019B-7558-F0D5-B70B9505435A}"/>
              </a:ext>
            </a:extLst>
          </p:cNvPr>
          <p:cNvPicPr>
            <a:picLocks noChangeAspect="1"/>
          </p:cNvPicPr>
          <p:nvPr/>
        </p:nvPicPr>
        <p:blipFill>
          <a:blip r:embed="rId2"/>
          <a:stretch>
            <a:fillRect/>
          </a:stretch>
        </p:blipFill>
        <p:spPr>
          <a:xfrm>
            <a:off x="2819400" y="838200"/>
            <a:ext cx="6553200" cy="4648200"/>
          </a:xfrm>
          <a:prstGeom prst="rect">
            <a:avLst/>
          </a:prstGeom>
        </p:spPr>
      </p:pic>
      <p:sp>
        <p:nvSpPr>
          <p:cNvPr id="5" name="TextBox 4">
            <a:extLst>
              <a:ext uri="{FF2B5EF4-FFF2-40B4-BE49-F238E27FC236}">
                <a16:creationId xmlns:a16="http://schemas.microsoft.com/office/drawing/2014/main" id="{634EE119-13D0-5CC4-2585-A31E950E03E5}"/>
              </a:ext>
            </a:extLst>
          </p:cNvPr>
          <p:cNvSpPr txBox="1"/>
          <p:nvPr/>
        </p:nvSpPr>
        <p:spPr>
          <a:xfrm>
            <a:off x="4393450" y="5712023"/>
            <a:ext cx="3405099" cy="307777"/>
          </a:xfrm>
          <a:prstGeom prst="rect">
            <a:avLst/>
          </a:prstGeom>
          <a:noFill/>
        </p:spPr>
        <p:txBody>
          <a:bodyPr wrap="none" rtlCol="0">
            <a:spAutoFit/>
          </a:bodyPr>
          <a:lstStyle/>
          <a:p>
            <a:r>
              <a:rPr lang="en-IN" sz="1400" dirty="0">
                <a:latin typeface="Times New Roman" panose="02020603050405020304" pitchFamily="18" charset="0"/>
                <a:cs typeface="Times New Roman" panose="02020603050405020304" pitchFamily="18" charset="0"/>
              </a:rPr>
              <a:t>Figure 15.1-Performance Comparison Graph</a:t>
            </a:r>
          </a:p>
        </p:txBody>
      </p:sp>
    </p:spTree>
    <p:extLst>
      <p:ext uri="{BB962C8B-B14F-4D97-AF65-F5344CB8AC3E}">
        <p14:creationId xmlns:p14="http://schemas.microsoft.com/office/powerpoint/2010/main" val="3873544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3D8809-89C4-7A52-FA56-E9A3A89112AF}"/>
              </a:ext>
            </a:extLst>
          </p:cNvPr>
          <p:cNvSpPr>
            <a:spLocks noGrp="1"/>
          </p:cNvSpPr>
          <p:nvPr>
            <p:ph type="title"/>
          </p:nvPr>
        </p:nvSpPr>
        <p:spPr>
          <a:xfrm>
            <a:off x="0" y="76200"/>
            <a:ext cx="12192000" cy="914399"/>
          </a:xfrm>
        </p:spPr>
        <p:txBody>
          <a:bodyPr>
            <a:normAutofit/>
          </a:bodyPr>
          <a:lstStyle/>
          <a:p>
            <a:r>
              <a:rPr lang="en-IN" sz="4800" dirty="0">
                <a:latin typeface="Times New Roman" panose="02020603050405020304" pitchFamily="18" charset="0"/>
                <a:cs typeface="Times New Roman" panose="02020603050405020304" pitchFamily="18" charset="0"/>
              </a:rPr>
              <a:t> 16. </a:t>
            </a:r>
            <a:r>
              <a:rPr lang="en-IN" sz="4800" u="sng" dirty="0">
                <a:latin typeface="Times New Roman" panose="02020603050405020304" pitchFamily="18" charset="0"/>
                <a:cs typeface="Times New Roman" panose="02020603050405020304" pitchFamily="18" charset="0"/>
              </a:rPr>
              <a:t>CONCLUSION</a:t>
            </a:r>
          </a:p>
        </p:txBody>
      </p:sp>
      <p:sp>
        <p:nvSpPr>
          <p:cNvPr id="5" name="Content Placeholder 4">
            <a:extLst>
              <a:ext uri="{FF2B5EF4-FFF2-40B4-BE49-F238E27FC236}">
                <a16:creationId xmlns:a16="http://schemas.microsoft.com/office/drawing/2014/main" id="{F028A076-C732-6DCF-F619-51F3DA0E613E}"/>
              </a:ext>
            </a:extLst>
          </p:cNvPr>
          <p:cNvSpPr>
            <a:spLocks noGrp="1"/>
          </p:cNvSpPr>
          <p:nvPr>
            <p:ph idx="1"/>
          </p:nvPr>
        </p:nvSpPr>
        <p:spPr>
          <a:xfrm>
            <a:off x="76200" y="990599"/>
            <a:ext cx="12039600" cy="5257801"/>
          </a:xfrm>
        </p:spPr>
        <p:txBody>
          <a:bodyPr>
            <a:normAutofit fontScale="25000" lnSpcReduction="20000"/>
          </a:bodyPr>
          <a:lstStyle/>
          <a:p>
            <a:pPr>
              <a:lnSpc>
                <a:spcPct val="120000"/>
              </a:lnSpc>
            </a:pPr>
            <a:r>
              <a:rPr lang="en-US" sz="8000" dirty="0">
                <a:latin typeface="Times New Roman" panose="02020603050405020304" pitchFamily="18" charset="0"/>
                <a:cs typeface="Times New Roman" panose="02020603050405020304" pitchFamily="18" charset="0"/>
              </a:rPr>
              <a:t>This project presents a comprehensive comparative analysis of traditional machine learning classifier models and transformer-based models for cyberbullying detection. </a:t>
            </a:r>
          </a:p>
          <a:p>
            <a:pPr>
              <a:lnSpc>
                <a:spcPct val="120000"/>
              </a:lnSpc>
            </a:pPr>
            <a:r>
              <a:rPr lang="en-US" sz="8000" dirty="0">
                <a:latin typeface="Times New Roman" panose="02020603050405020304" pitchFamily="18" charset="0"/>
                <a:cs typeface="Times New Roman" panose="02020603050405020304" pitchFamily="18" charset="0"/>
              </a:rPr>
              <a:t>The traditional classifier models considered in this work are Logistic Regression, SVM, and Naïve Bayes. On the other hand, multilingual transformer-based models, such as MuRIL, XLM-</a:t>
            </a:r>
            <a:r>
              <a:rPr lang="en-US" sz="8000" dirty="0" err="1">
                <a:latin typeface="Times New Roman" panose="02020603050405020304" pitchFamily="18" charset="0"/>
                <a:cs typeface="Times New Roman" panose="02020603050405020304" pitchFamily="18" charset="0"/>
              </a:rPr>
              <a:t>RoBERTa</a:t>
            </a:r>
            <a:r>
              <a:rPr lang="en-US" sz="8000" dirty="0">
                <a:latin typeface="Times New Roman" panose="02020603050405020304" pitchFamily="18" charset="0"/>
                <a:cs typeface="Times New Roman" panose="02020603050405020304" pitchFamily="18" charset="0"/>
              </a:rPr>
              <a:t>, and </a:t>
            </a:r>
            <a:r>
              <a:rPr lang="en-US" sz="8000" dirty="0" err="1">
                <a:latin typeface="Times New Roman" panose="02020603050405020304" pitchFamily="18" charset="0"/>
                <a:cs typeface="Times New Roman" panose="02020603050405020304" pitchFamily="18" charset="0"/>
              </a:rPr>
              <a:t>mDeBERTa</a:t>
            </a:r>
            <a:r>
              <a:rPr lang="en-US" sz="8000" dirty="0">
                <a:latin typeface="Times New Roman" panose="02020603050405020304" pitchFamily="18" charset="0"/>
                <a:cs typeface="Times New Roman" panose="02020603050405020304" pitchFamily="18" charset="0"/>
              </a:rPr>
              <a:t>, are considered. </a:t>
            </a:r>
          </a:p>
          <a:p>
            <a:pPr>
              <a:lnSpc>
                <a:spcPct val="120000"/>
              </a:lnSpc>
            </a:pPr>
            <a:r>
              <a:rPr lang="en-US" sz="8000" dirty="0">
                <a:latin typeface="Times New Roman" panose="02020603050405020304" pitchFamily="18" charset="0"/>
                <a:cs typeface="Times New Roman" panose="02020603050405020304" pitchFamily="18" charset="0"/>
              </a:rPr>
              <a:t>The performance of each classifier was tested using accuracy, precision, recall, and F1-measure, confusion matrix, and ROC-AUC curve. </a:t>
            </a:r>
            <a:endParaRPr lang="en-IN" sz="8000" dirty="0">
              <a:latin typeface="Times New Roman" panose="02020603050405020304" pitchFamily="18" charset="0"/>
              <a:cs typeface="Times New Roman" panose="02020603050405020304" pitchFamily="18" charset="0"/>
            </a:endParaRPr>
          </a:p>
          <a:p>
            <a:pPr>
              <a:lnSpc>
                <a:spcPct val="120000"/>
              </a:lnSpc>
            </a:pPr>
            <a:r>
              <a:rPr lang="en-US" sz="8000" dirty="0">
                <a:latin typeface="Times New Roman" panose="02020603050405020304" pitchFamily="18" charset="0"/>
                <a:cs typeface="Times New Roman" panose="02020603050405020304" pitchFamily="18" charset="0"/>
              </a:rPr>
              <a:t> The experimental results show that transformer-based models perform significantly better than traditional classifier models in identifying the contextual and semantic nuances present in cyberbullying content. </a:t>
            </a:r>
          </a:p>
          <a:p>
            <a:pPr>
              <a:lnSpc>
                <a:spcPct val="120000"/>
              </a:lnSpc>
            </a:pPr>
            <a:r>
              <a:rPr lang="en-US" sz="8000" dirty="0">
                <a:latin typeface="Times New Roman" panose="02020603050405020304" pitchFamily="18" charset="0"/>
                <a:cs typeface="Times New Roman" panose="02020603050405020304" pitchFamily="18" charset="0"/>
              </a:rPr>
              <a:t>Among all the models considered in this work, XLM-</a:t>
            </a:r>
            <a:r>
              <a:rPr lang="en-US" sz="8000" dirty="0" err="1">
                <a:latin typeface="Times New Roman" panose="02020603050405020304" pitchFamily="18" charset="0"/>
                <a:cs typeface="Times New Roman" panose="02020603050405020304" pitchFamily="18" charset="0"/>
              </a:rPr>
              <a:t>RoBERTa</a:t>
            </a:r>
            <a:r>
              <a:rPr lang="en-US" sz="8000" dirty="0">
                <a:latin typeface="Times New Roman" panose="02020603050405020304" pitchFamily="18" charset="0"/>
                <a:cs typeface="Times New Roman" panose="02020603050405020304" pitchFamily="18" charset="0"/>
              </a:rPr>
              <a:t> was found to perform the best. It had the highest accuracy, F1-measure, and Area Under the Curve (AUC). Its low number of false negatives also makes it more reliable in identifying harmful content. </a:t>
            </a:r>
          </a:p>
          <a:p>
            <a:pPr>
              <a:lnSpc>
                <a:spcPct val="120000"/>
              </a:lnSpc>
            </a:pPr>
            <a:r>
              <a:rPr lang="en-US" sz="8000" dirty="0">
                <a:latin typeface="Times New Roman" panose="02020603050405020304" pitchFamily="18" charset="0"/>
                <a:cs typeface="Times New Roman" panose="02020603050405020304" pitchFamily="18" charset="0"/>
              </a:rPr>
              <a:t>Although SVM performed relatively well, Naïve Bayes performed well in terms of high recall value, its high number of false positives makes it less applicable. The results show that contextual embedding models perform significantly better than traditional frequency-based embedding models like TF-IDF. </a:t>
            </a:r>
            <a:endParaRPr lang="en-IN" sz="8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4B3E4EE0-BD1C-3894-94DC-E9A9A6D50229}"/>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D53E22EB-165A-15CF-FF46-B548DA6AAEB4}"/>
              </a:ext>
            </a:extLst>
          </p:cNvPr>
          <p:cNvSpPr>
            <a:spLocks noGrp="1"/>
          </p:cNvSpPr>
          <p:nvPr>
            <p:ph type="sldNum" sz="quarter" idx="12"/>
          </p:nvPr>
        </p:nvSpPr>
        <p:spPr/>
        <p:txBody>
          <a:bodyPr/>
          <a:lstStyle/>
          <a:p>
            <a:fld id="{330EA680-D336-4FF7-8B7A-9848BB0A1C32}" type="slidenum">
              <a:rPr lang="en-US" smtClean="0"/>
              <a:t>38</a:t>
            </a:fld>
            <a:endParaRPr lang="en-US"/>
          </a:p>
        </p:txBody>
      </p:sp>
    </p:spTree>
    <p:extLst>
      <p:ext uri="{BB962C8B-B14F-4D97-AF65-F5344CB8AC3E}">
        <p14:creationId xmlns:p14="http://schemas.microsoft.com/office/powerpoint/2010/main" val="20975614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FFB37-5B00-1473-95A9-066A30E6E4D0}"/>
              </a:ext>
            </a:extLst>
          </p:cNvPr>
          <p:cNvSpPr>
            <a:spLocks noGrp="1"/>
          </p:cNvSpPr>
          <p:nvPr>
            <p:ph type="title"/>
          </p:nvPr>
        </p:nvSpPr>
        <p:spPr>
          <a:xfrm>
            <a:off x="0" y="136525"/>
            <a:ext cx="12192000" cy="930275"/>
          </a:xfrm>
        </p:spPr>
        <p:txBody>
          <a:bodyPr>
            <a:normAutofit/>
          </a:bodyPr>
          <a:lstStyle/>
          <a:p>
            <a:r>
              <a:rPr lang="en-IN" sz="4800" dirty="0">
                <a:latin typeface="Times New Roman" panose="02020603050405020304" pitchFamily="18" charset="0"/>
                <a:cs typeface="Times New Roman" panose="02020603050405020304" pitchFamily="18" charset="0"/>
              </a:rPr>
              <a:t> 17. </a:t>
            </a:r>
            <a:r>
              <a:rPr lang="en-IN" sz="4800" u="sng"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4EEA5C68-DD40-523A-112E-2D31D8AF90C9}"/>
              </a:ext>
            </a:extLst>
          </p:cNvPr>
          <p:cNvSpPr>
            <a:spLocks noGrp="1"/>
          </p:cNvSpPr>
          <p:nvPr>
            <p:ph idx="1"/>
          </p:nvPr>
        </p:nvSpPr>
        <p:spPr>
          <a:xfrm>
            <a:off x="76200" y="1143000"/>
            <a:ext cx="12039600" cy="5213350"/>
          </a:xfrm>
        </p:spPr>
        <p:txBody>
          <a:bodyPr>
            <a:noAutofit/>
          </a:bodyPr>
          <a:lstStyle/>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Maity, K., Jain, R., Jha, P., &amp; Saha, S. (2024). Explainable cyberbullying detection in Hinglish: A generative approach. IEEE Transactions on Computational Social Systems, 11(3), 3338–3347.</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Khanuja, S., Bansal, D., Mehtani, S., Khosla, S., Dey, A., Gopalan, B., &amp;Talukdar, P. (2021). MuRIL: Multilingual representations for Indian languages. arXiv preprint arXiv:2103.10730. </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He, P., Liu, X., Gao, J., &amp; Chen, W. (2021). DeBERTa: Decoding enhanced BERT with disentangled attention. In Proceedings of the International Conference on Learning Representations (ICLR). </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Conneau, A., Khandelwal, K., Goyal, N., Chaudhary, V., Wenzek, G., Guzm´ an, F., &amp; Stoyanov, V. (2020). Unsupervised cross-lingual representation learning at scale. In Proceedings of the 58th Annual Meeting of the Association for Computational Linguistics (pp. 8440–8451). </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Liu, Y., Ott, M., Goyal, N., Du, J., Joshi, M., Chen, D., &amp; Stoyanov, V. (2019). RoBERTa: A robustly optimized BERT pretraining approach. arXiv preprint arXiv:1907.11692.</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Devlin, J., Chang, M. W., Lee, K., &amp; Toutanova, K. (2019). BERT: Pre training of deep bidirectional transformers for language understanding. In Proceedings of NAACL-HLT (pp. 4171–4186).</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Davidson, T., Warmsley, D., Macy, M., &amp; Weber, I. (2017). Automated hate speech detection and the problem of offensive language. In Proceedings of the International AAAI Conference on Web and Social Me </a:t>
            </a:r>
            <a:r>
              <a:rPr lang="en-IN" sz="2000" dirty="0" err="1">
                <a:latin typeface="Times New Roman" panose="02020603050405020304" pitchFamily="18" charset="0"/>
                <a:cs typeface="Times New Roman" panose="02020603050405020304" pitchFamily="18" charset="0"/>
              </a:rPr>
              <a:t>dia</a:t>
            </a:r>
            <a:r>
              <a:rPr lang="en-IN" sz="2000" dirty="0">
                <a:latin typeface="Times New Roman" panose="02020603050405020304" pitchFamily="18" charset="0"/>
                <a:cs typeface="Times New Roman" panose="02020603050405020304" pitchFamily="18" charset="0"/>
              </a:rPr>
              <a:t> (Vol. 11, pp. 512–515).</a:t>
            </a:r>
          </a:p>
        </p:txBody>
      </p:sp>
      <p:sp>
        <p:nvSpPr>
          <p:cNvPr id="4" name="Footer Placeholder 3">
            <a:extLst>
              <a:ext uri="{FF2B5EF4-FFF2-40B4-BE49-F238E27FC236}">
                <a16:creationId xmlns:a16="http://schemas.microsoft.com/office/drawing/2014/main" id="{4377CF60-0B2D-3D65-412D-1F93D7D26205}"/>
              </a:ext>
            </a:extLst>
          </p:cNvPr>
          <p:cNvSpPr>
            <a:spLocks noGrp="1"/>
          </p:cNvSpPr>
          <p:nvPr>
            <p:ph type="ftr" sz="quarter" idx="11"/>
          </p:nvPr>
        </p:nvSpPr>
        <p:spPr/>
        <p:txBody>
          <a:bodyPr/>
          <a:lstStyle/>
          <a:p>
            <a:r>
              <a:rPr lang="en-US" dirty="0"/>
              <a:t>A13</a:t>
            </a:r>
          </a:p>
        </p:txBody>
      </p:sp>
      <p:sp>
        <p:nvSpPr>
          <p:cNvPr id="5" name="Slide Number Placeholder 4">
            <a:extLst>
              <a:ext uri="{FF2B5EF4-FFF2-40B4-BE49-F238E27FC236}">
                <a16:creationId xmlns:a16="http://schemas.microsoft.com/office/drawing/2014/main" id="{6A1657C4-8DEC-53BB-ED94-EFD9B93813FF}"/>
              </a:ext>
            </a:extLst>
          </p:cNvPr>
          <p:cNvSpPr>
            <a:spLocks noGrp="1"/>
          </p:cNvSpPr>
          <p:nvPr>
            <p:ph type="sldNum" sz="quarter" idx="12"/>
          </p:nvPr>
        </p:nvSpPr>
        <p:spPr/>
        <p:txBody>
          <a:bodyPr/>
          <a:lstStyle/>
          <a:p>
            <a:fld id="{330EA680-D336-4FF7-8B7A-9848BB0A1C32}" type="slidenum">
              <a:rPr lang="en-US" smtClean="0"/>
              <a:t>39</a:t>
            </a:fld>
            <a:endParaRPr lang="en-US"/>
          </a:p>
        </p:txBody>
      </p:sp>
    </p:spTree>
    <p:extLst>
      <p:ext uri="{BB962C8B-B14F-4D97-AF65-F5344CB8AC3E}">
        <p14:creationId xmlns:p14="http://schemas.microsoft.com/office/powerpoint/2010/main" val="10313828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3706CD-0170-BE14-9FCC-063A9960B078}"/>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932F1E42-03C3-D865-FCA9-973E07FD24DE}"/>
              </a:ext>
            </a:extLst>
          </p:cNvPr>
          <p:cNvSpPr>
            <a:spLocks noGrp="1"/>
          </p:cNvSpPr>
          <p:nvPr>
            <p:ph type="sldNum" sz="quarter" idx="12"/>
          </p:nvPr>
        </p:nvSpPr>
        <p:spPr/>
        <p:txBody>
          <a:bodyPr/>
          <a:lstStyle/>
          <a:p>
            <a:fld id="{330EA680-D336-4FF7-8B7A-9848BB0A1C32}" type="slidenum">
              <a:rPr lang="en-US" smtClean="0"/>
              <a:t>40</a:t>
            </a:fld>
            <a:endParaRPr lang="en-US"/>
          </a:p>
        </p:txBody>
      </p:sp>
      <p:sp>
        <p:nvSpPr>
          <p:cNvPr id="5" name="TextBox 4">
            <a:extLst>
              <a:ext uri="{FF2B5EF4-FFF2-40B4-BE49-F238E27FC236}">
                <a16:creationId xmlns:a16="http://schemas.microsoft.com/office/drawing/2014/main" id="{2177F8AB-225A-8567-23AE-34C7A3CBC075}"/>
              </a:ext>
            </a:extLst>
          </p:cNvPr>
          <p:cNvSpPr txBox="1"/>
          <p:nvPr/>
        </p:nvSpPr>
        <p:spPr>
          <a:xfrm>
            <a:off x="76200" y="76200"/>
            <a:ext cx="12039600" cy="6247864"/>
          </a:xfrm>
          <a:prstGeom prst="rect">
            <a:avLst/>
          </a:prstGeom>
          <a:noFill/>
        </p:spPr>
        <p:txBody>
          <a:bodyPr wrap="square" rtlCol="0">
            <a:spAutoFit/>
          </a:bodyPr>
          <a:lstStyle/>
          <a:p>
            <a:pPr marL="457200" indent="-457200" algn="just">
              <a:buFont typeface="+mj-lt"/>
              <a:buAutoNum type="arabicPeriod" startAt="8"/>
            </a:pPr>
            <a:r>
              <a:rPr lang="en-IN" sz="2000" dirty="0">
                <a:latin typeface="Times New Roman" panose="02020603050405020304" pitchFamily="18" charset="0"/>
                <a:cs typeface="Times New Roman" panose="02020603050405020304" pitchFamily="18" charset="0"/>
              </a:rPr>
              <a:t>Malmasi, S., &amp; Zampieri, M. (2017). Detecting hate speech in social media. arXiv preprint arXiv:1712.06427.</a:t>
            </a:r>
          </a:p>
          <a:p>
            <a:pPr marL="457200" indent="-457200" algn="just">
              <a:buFont typeface="+mj-lt"/>
              <a:buAutoNum type="arabicPeriod" startAt="8"/>
            </a:pPr>
            <a:r>
              <a:rPr lang="en-IN" sz="2000" dirty="0">
                <a:latin typeface="Times New Roman" panose="02020603050405020304" pitchFamily="18" charset="0"/>
                <a:cs typeface="Times New Roman" panose="02020603050405020304" pitchFamily="18" charset="0"/>
              </a:rPr>
              <a:t>Badjatiya, P., Gupta, S., Gupta, M., &amp; Varma, V. (2017). Deep learning for hate speech detection in tweets. In Proceedings of the 26th International Conference on World Wide Web Companion (pp. 759–760).</a:t>
            </a:r>
          </a:p>
          <a:p>
            <a:pPr marL="457200" indent="-457200" algn="just">
              <a:buFont typeface="+mj-lt"/>
              <a:buAutoNum type="arabicPeriod" startAt="8"/>
            </a:pPr>
            <a:r>
              <a:rPr lang="en-US" sz="2000" dirty="0">
                <a:latin typeface="Times New Roman" panose="02020603050405020304" pitchFamily="18" charset="0"/>
                <a:cs typeface="Times New Roman" panose="02020603050405020304" pitchFamily="18" charset="0"/>
              </a:rPr>
              <a:t>Salawu, S., He, Y., &amp; Lumsden, J. (2017). Approaches to automated detection of cyberbullying: A survey. IEEE Transactions on Affective Computing, 11(1), 3–24.</a:t>
            </a:r>
          </a:p>
          <a:p>
            <a:pPr marL="457200" indent="-457200" algn="just">
              <a:buFont typeface="+mj-lt"/>
              <a:buAutoNum type="arabicPeriod" startAt="8"/>
            </a:pPr>
            <a:r>
              <a:rPr lang="en-US" sz="2000" dirty="0">
                <a:latin typeface="Times New Roman" panose="02020603050405020304" pitchFamily="18" charset="0"/>
                <a:cs typeface="Times New Roman" panose="02020603050405020304" pitchFamily="18" charset="0"/>
              </a:rPr>
              <a:t>Talat, Z., &amp; Hovy, D. (2016). Hateful symbols or hateful people? Predictive features for hate speech detection on Twitter. In Proceedings of the NAACL Student Research Workshop (pp. 88–93).</a:t>
            </a:r>
          </a:p>
          <a:p>
            <a:pPr marL="457200" indent="-457200" algn="just">
              <a:buFont typeface="+mj-lt"/>
              <a:buAutoNum type="arabicPeriod" startAt="8"/>
            </a:pPr>
            <a:r>
              <a:rPr lang="en-US" sz="2000" dirty="0">
                <a:latin typeface="Times New Roman" panose="02020603050405020304" pitchFamily="18" charset="0"/>
                <a:cs typeface="Times New Roman" panose="02020603050405020304" pitchFamily="18" charset="0"/>
              </a:rPr>
              <a:t>Kowalski, R. M., Giumetti, G. W., Schroeder, A. N., &amp; Lattanner, M. R. (2014). Bullying in the digital age: A critical review and meta analysis of cyberbullying research among youth. Psychological Bul letin, 140(4), 1073–1137. </a:t>
            </a:r>
          </a:p>
          <a:p>
            <a:pPr marL="457200" indent="-457200" algn="just">
              <a:buFont typeface="+mj-lt"/>
              <a:buAutoNum type="arabicPeriod" startAt="8"/>
            </a:pPr>
            <a:r>
              <a:rPr lang="en-US" sz="2000" dirty="0">
                <a:latin typeface="Times New Roman" panose="02020603050405020304" pitchFamily="18" charset="0"/>
                <a:cs typeface="Times New Roman" panose="02020603050405020304" pitchFamily="18" charset="0"/>
              </a:rPr>
              <a:t>Barman, U., Das, A., Wagner, J., &amp; Foster, J. (2014). Code mixing: A challenge for language identification in social media. In Proceedings of the First Workshop on Computational Approaches to Code Switching (pp. 13–23).</a:t>
            </a:r>
          </a:p>
          <a:p>
            <a:pPr marL="457200" indent="-457200" algn="just">
              <a:buFont typeface="+mj-lt"/>
              <a:buAutoNum type="arabicPeriod" startAt="8"/>
            </a:pPr>
            <a:r>
              <a:rPr lang="en-US" sz="2000" dirty="0">
                <a:latin typeface="Times New Roman" panose="02020603050405020304" pitchFamily="18" charset="0"/>
                <a:cs typeface="Times New Roman" panose="02020603050405020304" pitchFamily="18" charset="0"/>
              </a:rPr>
              <a:t>Walker, C. M. (2014). Cyberbullying redefined: An analysis of intent and repetition. International Journal of Education and Social Science, 1(5), 59–69.</a:t>
            </a:r>
          </a:p>
          <a:p>
            <a:pPr marL="457200" indent="-457200" algn="just">
              <a:buFont typeface="+mj-lt"/>
              <a:buAutoNum type="arabicPeriod" startAt="8"/>
            </a:pPr>
            <a:r>
              <a:rPr lang="en-US" sz="2000" dirty="0">
                <a:latin typeface="Times New Roman" panose="02020603050405020304" pitchFamily="18" charset="0"/>
                <a:cs typeface="Times New Roman" panose="02020603050405020304" pitchFamily="18" charset="0"/>
              </a:rPr>
              <a:t>Chen, Y., Zhou, Y., Zhu, S., &amp; Xu, H. (2012). Detecting offensive language in social media to protect adolescent online safety. In 2012 International Conference on Privacy, Security, Risk and Trust and So </a:t>
            </a:r>
            <a:r>
              <a:rPr lang="en-US" sz="2000" dirty="0" err="1">
                <a:latin typeface="Times New Roman" panose="02020603050405020304" pitchFamily="18" charset="0"/>
                <a:cs typeface="Times New Roman" panose="02020603050405020304" pitchFamily="18" charset="0"/>
              </a:rPr>
              <a:t>cial</a:t>
            </a:r>
            <a:r>
              <a:rPr lang="en-US" sz="2000" dirty="0">
                <a:latin typeface="Times New Roman" panose="02020603050405020304" pitchFamily="18" charset="0"/>
                <a:cs typeface="Times New Roman" panose="02020603050405020304" pitchFamily="18" charset="0"/>
              </a:rPr>
              <a:t> Computing (pp. 71–80). IEEE.</a:t>
            </a:r>
          </a:p>
          <a:p>
            <a:pPr marL="457200" indent="-457200" algn="just">
              <a:buFont typeface="+mj-lt"/>
              <a:buAutoNum type="arabicPeriod" startAt="8"/>
            </a:pPr>
            <a:r>
              <a:rPr lang="en-US" sz="2000" dirty="0">
                <a:latin typeface="Times New Roman" panose="02020603050405020304" pitchFamily="18" charset="0"/>
                <a:cs typeface="Times New Roman" panose="02020603050405020304" pitchFamily="18" charset="0"/>
              </a:rPr>
              <a:t>Patchin, J. W., &amp; Hinduja, S. (2010). Cyberbullying and self-esteem. Journal of School Health, 80(12), 614–621.</a:t>
            </a:r>
          </a:p>
        </p:txBody>
      </p:sp>
    </p:spTree>
    <p:extLst>
      <p:ext uri="{BB962C8B-B14F-4D97-AF65-F5344CB8AC3E}">
        <p14:creationId xmlns:p14="http://schemas.microsoft.com/office/powerpoint/2010/main" val="18514059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EAC01B9-A6E0-6EE9-62FF-71BE24B3BD3B}"/>
              </a:ext>
            </a:extLst>
          </p:cNvPr>
          <p:cNvSpPr>
            <a:spLocks noGrp="1"/>
          </p:cNvSpPr>
          <p:nvPr>
            <p:ph type="ftr" sz="quarter" idx="11"/>
          </p:nvPr>
        </p:nvSpPr>
        <p:spPr/>
        <p:txBody>
          <a:bodyPr/>
          <a:lstStyle/>
          <a:p>
            <a:r>
              <a:rPr lang="en-US" dirty="0"/>
              <a:t>A13</a:t>
            </a:r>
          </a:p>
        </p:txBody>
      </p:sp>
      <p:sp>
        <p:nvSpPr>
          <p:cNvPr id="3" name="Slide Number Placeholder 2">
            <a:extLst>
              <a:ext uri="{FF2B5EF4-FFF2-40B4-BE49-F238E27FC236}">
                <a16:creationId xmlns:a16="http://schemas.microsoft.com/office/drawing/2014/main" id="{11E98354-7E3C-54FC-D0FC-137D897ED46F}"/>
              </a:ext>
            </a:extLst>
          </p:cNvPr>
          <p:cNvSpPr>
            <a:spLocks noGrp="1"/>
          </p:cNvSpPr>
          <p:nvPr>
            <p:ph type="sldNum" sz="quarter" idx="12"/>
          </p:nvPr>
        </p:nvSpPr>
        <p:spPr/>
        <p:txBody>
          <a:bodyPr/>
          <a:lstStyle/>
          <a:p>
            <a:fld id="{330EA680-D336-4FF7-8B7A-9848BB0A1C32}" type="slidenum">
              <a:rPr lang="en-US" smtClean="0"/>
              <a:t>41</a:t>
            </a:fld>
            <a:endParaRPr lang="en-US"/>
          </a:p>
        </p:txBody>
      </p:sp>
      <p:sp>
        <p:nvSpPr>
          <p:cNvPr id="4" name="TextBox 3">
            <a:extLst>
              <a:ext uri="{FF2B5EF4-FFF2-40B4-BE49-F238E27FC236}">
                <a16:creationId xmlns:a16="http://schemas.microsoft.com/office/drawing/2014/main" id="{A6152318-DCA9-88FA-3A81-A3496FD70161}"/>
              </a:ext>
            </a:extLst>
          </p:cNvPr>
          <p:cNvSpPr txBox="1"/>
          <p:nvPr/>
        </p:nvSpPr>
        <p:spPr>
          <a:xfrm>
            <a:off x="152400" y="136525"/>
            <a:ext cx="11887200" cy="4708981"/>
          </a:xfrm>
          <a:prstGeom prst="rect">
            <a:avLst/>
          </a:prstGeom>
          <a:noFill/>
        </p:spPr>
        <p:txBody>
          <a:bodyPr wrap="square" rtlCol="0">
            <a:spAutoFit/>
          </a:bodyPr>
          <a:lstStyle/>
          <a:p>
            <a:pPr marL="342900" indent="-342900" algn="just">
              <a:buFont typeface="+mj-lt"/>
              <a:buAutoNum type="arabicPeriod" startAt="17"/>
            </a:pPr>
            <a:r>
              <a:rPr lang="en-US" sz="2000" dirty="0">
                <a:latin typeface="Times New Roman" panose="02020603050405020304" pitchFamily="18" charset="0"/>
                <a:cs typeface="Times New Roman" panose="02020603050405020304" pitchFamily="18" charset="0"/>
              </a:rPr>
              <a:t>https://www.kaggle.com/datasets/saurabhshahane/cyberbullying-dataset?select=youtube_parsed_dataset.csv</a:t>
            </a:r>
          </a:p>
          <a:p>
            <a:pPr algn="just"/>
            <a:endParaRPr lang="en-US" sz="2000" dirty="0">
              <a:latin typeface="Times New Roman" panose="02020603050405020304" pitchFamily="18" charset="0"/>
              <a:cs typeface="Times New Roman" panose="02020603050405020304" pitchFamily="18" charset="0"/>
            </a:endParaRPr>
          </a:p>
          <a:p>
            <a:pPr algn="just"/>
            <a:r>
              <a:rPr lang="en-US" sz="2000" b="1" u="sng" dirty="0">
                <a:latin typeface="Times New Roman" panose="02020603050405020304" pitchFamily="18" charset="0"/>
                <a:cs typeface="Times New Roman" panose="02020603050405020304" pitchFamily="18" charset="0"/>
              </a:rPr>
              <a:t>BOOKS</a:t>
            </a:r>
          </a:p>
          <a:p>
            <a:pPr marL="457200" lvl="0" indent="-457200" algn="just" eaLnBrk="0" fontAlgn="base" hangingPunct="0">
              <a:spcBef>
                <a:spcPct val="0"/>
              </a:spcBef>
              <a:spcAft>
                <a:spcPct val="0"/>
              </a:spcAft>
              <a:buFont typeface="+mj-lt"/>
              <a:buAutoNum type="arabicPeriod" startAt="18"/>
            </a:pPr>
            <a:r>
              <a:rPr lang="en-US" altLang="en-US" sz="2000" dirty="0">
                <a:latin typeface="Times New Roman" panose="02020603050405020304" pitchFamily="18" charset="0"/>
                <a:cs typeface="Times New Roman" panose="02020603050405020304" pitchFamily="18" charset="0"/>
              </a:rPr>
              <a:t>Speech and Language Processing – Daniel Jurafsky and James H. Martin</a:t>
            </a:r>
          </a:p>
          <a:p>
            <a:pPr marL="457200" lvl="0" indent="-457200" algn="just" eaLnBrk="0" fontAlgn="base" hangingPunct="0">
              <a:spcBef>
                <a:spcPct val="0"/>
              </a:spcBef>
              <a:spcAft>
                <a:spcPct val="0"/>
              </a:spcAft>
              <a:buFont typeface="+mj-lt"/>
              <a:buAutoNum type="arabicPeriod" startAt="18"/>
            </a:pPr>
            <a:r>
              <a:rPr lang="en-US" altLang="en-US" sz="2000" dirty="0">
                <a:latin typeface="Times New Roman" panose="02020603050405020304" pitchFamily="18" charset="0"/>
                <a:cs typeface="Times New Roman" panose="02020603050405020304" pitchFamily="18" charset="0"/>
              </a:rPr>
              <a:t>Natural Language Processing with Python – Steven Bird, Ewan Klein, Edward Loper</a:t>
            </a:r>
          </a:p>
          <a:p>
            <a:pPr lvl="0" algn="just"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sz="2000" b="1" u="sng" dirty="0">
                <a:latin typeface="Times New Roman" panose="02020603050405020304" pitchFamily="18" charset="0"/>
                <a:cs typeface="Times New Roman" panose="02020603050405020304" pitchFamily="18" charset="0"/>
              </a:rPr>
              <a:t>WEBSITES</a:t>
            </a:r>
          </a:p>
          <a:p>
            <a:pPr marL="457200" lvl="0" indent="-457200" algn="just" eaLnBrk="0" fontAlgn="base" hangingPunct="0">
              <a:spcBef>
                <a:spcPct val="0"/>
              </a:spcBef>
              <a:spcAft>
                <a:spcPct val="0"/>
              </a:spcAft>
              <a:buFont typeface="+mj-lt"/>
              <a:buAutoNum type="arabicPeriod" startAt="20"/>
            </a:pPr>
            <a:r>
              <a:rPr lang="en-US" altLang="en-US" sz="2000" dirty="0">
                <a:latin typeface="Times New Roman" panose="02020603050405020304" pitchFamily="18" charset="0"/>
                <a:cs typeface="Times New Roman" panose="02020603050405020304" pitchFamily="18" charset="0"/>
              </a:rPr>
              <a:t>Kaggle Dataset Platform-Used for Cyberbullying Datasets</a:t>
            </a:r>
          </a:p>
          <a:p>
            <a:pPr marL="457200" lvl="0" indent="-457200" algn="just" eaLnBrk="0" fontAlgn="base" hangingPunct="0">
              <a:spcBef>
                <a:spcPct val="0"/>
              </a:spcBef>
              <a:spcAft>
                <a:spcPct val="0"/>
              </a:spcAft>
              <a:buFont typeface="+mj-lt"/>
              <a:buAutoNum type="arabicPeriod" startAt="20"/>
            </a:pPr>
            <a:r>
              <a:rPr lang="en-US" altLang="en-US" sz="2000" dirty="0">
                <a:latin typeface="Times New Roman" panose="02020603050405020304" pitchFamily="18" charset="0"/>
                <a:cs typeface="Times New Roman" panose="02020603050405020304" pitchFamily="18" charset="0"/>
              </a:rPr>
              <a:t>Scikit-Learn Documentation-Machine Learning Models</a:t>
            </a:r>
          </a:p>
          <a:p>
            <a:pPr marL="457200" lvl="0" indent="-457200" algn="just" eaLnBrk="0" fontAlgn="base" hangingPunct="0">
              <a:spcBef>
                <a:spcPct val="0"/>
              </a:spcBef>
              <a:spcAft>
                <a:spcPct val="0"/>
              </a:spcAft>
              <a:buFont typeface="+mj-lt"/>
              <a:buAutoNum type="arabicPeriod" startAt="20"/>
            </a:pPr>
            <a:r>
              <a:rPr lang="en-US" altLang="en-US" sz="2000" dirty="0">
                <a:latin typeface="Times New Roman" panose="02020603050405020304" pitchFamily="18" charset="0"/>
                <a:cs typeface="Times New Roman" panose="02020603050405020304" pitchFamily="18" charset="0"/>
              </a:rPr>
              <a:t>HuggingFace Transformers-Transformers Models</a:t>
            </a:r>
          </a:p>
          <a:p>
            <a:pPr marL="457200" lvl="0" indent="-457200" algn="just" eaLnBrk="0" fontAlgn="base" hangingPunct="0">
              <a:spcBef>
                <a:spcPct val="0"/>
              </a:spcBef>
              <a:spcAft>
                <a:spcPct val="0"/>
              </a:spcAft>
              <a:buFont typeface="+mj-lt"/>
              <a:buAutoNum type="arabicPeriod" startAt="20"/>
            </a:pPr>
            <a:r>
              <a:rPr lang="en-US" altLang="en-US" sz="2000" dirty="0">
                <a:latin typeface="Times New Roman" panose="02020603050405020304" pitchFamily="18" charset="0"/>
                <a:cs typeface="Times New Roman" panose="02020603050405020304" pitchFamily="18" charset="0"/>
              </a:rPr>
              <a:t>NLTK Documentation-Text Preprocessing Tools</a:t>
            </a:r>
          </a:p>
          <a:p>
            <a:pPr lvl="0" algn="just"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sz="2000" b="1" u="sng" dirty="0">
                <a:latin typeface="Times New Roman" panose="02020603050405020304" pitchFamily="18" charset="0"/>
                <a:cs typeface="Times New Roman" panose="02020603050405020304" pitchFamily="18" charset="0"/>
              </a:rPr>
              <a:t>API’S</a:t>
            </a:r>
          </a:p>
          <a:p>
            <a:pPr marL="457200" lvl="0" indent="-457200" algn="just" eaLnBrk="0" fontAlgn="base" hangingPunct="0">
              <a:spcBef>
                <a:spcPct val="0"/>
              </a:spcBef>
              <a:spcAft>
                <a:spcPct val="0"/>
              </a:spcAft>
              <a:buFont typeface="+mj-lt"/>
              <a:buAutoNum type="arabicPeriod" startAt="24"/>
            </a:pPr>
            <a:r>
              <a:rPr lang="en-US" altLang="en-US" sz="2000" dirty="0" err="1">
                <a:latin typeface="Times New Roman" panose="02020603050405020304" pitchFamily="18" charset="0"/>
                <a:cs typeface="Times New Roman" panose="02020603050405020304" pitchFamily="18" charset="0"/>
              </a:rPr>
              <a:t>PyTorch</a:t>
            </a:r>
            <a:r>
              <a:rPr lang="en-US" altLang="en-US" sz="2000" dirty="0">
                <a:latin typeface="Times New Roman" panose="02020603050405020304" pitchFamily="18" charset="0"/>
                <a:cs typeface="Times New Roman" panose="02020603050405020304" pitchFamily="18" charset="0"/>
              </a:rPr>
              <a:t> –Deep Learning Framework</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60118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1370</TotalTime>
  <Words>5737</Words>
  <Application>Microsoft Office PowerPoint</Application>
  <PresentationFormat>Widescreen</PresentationFormat>
  <Paragraphs>674</Paragraphs>
  <Slides>41</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Aptos</vt:lpstr>
      <vt:lpstr>Aptos Display</vt:lpstr>
      <vt:lpstr>Arial</vt:lpstr>
      <vt:lpstr>Times New Roman</vt:lpstr>
      <vt:lpstr>office theme</vt:lpstr>
      <vt:lpstr>CrossTongueGuard: Detecting Cyberbullying in Code-Mixed Conversations.</vt:lpstr>
      <vt:lpstr>  1. INTRODUCTION</vt:lpstr>
      <vt:lpstr>PowerPoint Presentation</vt:lpstr>
      <vt:lpstr> 2. PROBLEM STATEMENT</vt:lpstr>
      <vt:lpstr>PowerPoint Presentation</vt:lpstr>
      <vt:lpstr> 3. OBJECTIVES</vt:lpstr>
      <vt:lpstr>PowerPoint Presentation</vt:lpstr>
      <vt:lpstr> 4. EXISTING SYSTEM</vt:lpstr>
      <vt:lpstr>PowerPoint Presentation</vt:lpstr>
      <vt:lpstr> 5. PROPOSED SYSTEM</vt:lpstr>
      <vt:lpstr>PowerPoint Presentation</vt:lpstr>
      <vt:lpstr> 6. SCOPE OF THE PROJECT</vt:lpstr>
      <vt:lpstr>PowerPoint Presentation</vt:lpstr>
      <vt:lpstr> 7. LITERATURE SURVEY</vt:lpstr>
      <vt:lpstr>PowerPoint Presentation</vt:lpstr>
      <vt:lpstr>PowerPoint Presentation</vt:lpstr>
      <vt:lpstr>PowerPoint Presentation</vt:lpstr>
      <vt:lpstr>PowerPoint Presentation</vt:lpstr>
      <vt:lpstr>PowerPoint Presentation</vt:lpstr>
      <vt:lpstr> 8. SYSTEM REQUIREMENTS</vt:lpstr>
      <vt:lpstr> 9. SYSTEM ARCHITECTURE</vt:lpstr>
      <vt:lpstr>PowerPoint Presentation</vt:lpstr>
      <vt:lpstr>10. MODULES DESCRIPTION</vt:lpstr>
      <vt:lpstr>PowerPoint Presentation</vt:lpstr>
      <vt:lpstr> 11. METHODOLOGY</vt:lpstr>
      <vt:lpstr>PowerPoint Presentation</vt:lpstr>
      <vt:lpstr> 12. TOOLS AND TECHNOLOGIES USED</vt:lpstr>
      <vt:lpstr> 13. IMPLEMENTATION</vt:lpstr>
      <vt:lpstr>PowerPoint Presentation</vt:lpstr>
      <vt:lpstr> 14.OUTPUTS</vt:lpstr>
      <vt:lpstr>PowerPoint Presentation</vt:lpstr>
      <vt:lpstr>PowerPoint Presentation</vt:lpstr>
      <vt:lpstr>PowerPoint Presentation</vt:lpstr>
      <vt:lpstr>PowerPoint Presentation</vt:lpstr>
      <vt:lpstr> 15. RESULTS AND DISCUSSION</vt:lpstr>
      <vt:lpstr>PowerPoint Presentation</vt:lpstr>
      <vt:lpstr>PowerPoint Presentation</vt:lpstr>
      <vt:lpstr> 16. CONCLUSION</vt:lpstr>
      <vt:lpstr> 17. 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CrossTongueGuard: Detecting Cyberbullying in Code-Mixed Conversations.</dc:title>
  <dc:creator>NAKKA TEJASVI</dc:creator>
  <cp:lastModifiedBy>Nakka Tejasvi</cp:lastModifiedBy>
  <cp:revision>10</cp:revision>
  <dcterms:created xsi:type="dcterms:W3CDTF">2025-10-27T15:40:59Z</dcterms:created>
  <dcterms:modified xsi:type="dcterms:W3CDTF">2026-03-25T16:41:49Z</dcterms:modified>
</cp:coreProperties>
</file>